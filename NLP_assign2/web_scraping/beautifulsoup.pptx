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6" r:id="rId11"/>
    <p:sldId id="265"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94721"/>
  </p:normalViewPr>
  <p:slideViewPr>
    <p:cSldViewPr snapToGrid="0">
      <p:cViewPr varScale="1">
        <p:scale>
          <a:sx n="104" d="100"/>
          <a:sy n="104" d="100"/>
        </p:scale>
        <p:origin x="90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5DA168-444C-E94F-9910-7667C5613DC0}" type="datetimeFigureOut">
              <a:rPr lang="en-US" smtClean="0"/>
              <a:t>8/7/26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2FE4B3-2784-4E48-B3AC-C95D8A80250F}" type="slidenum">
              <a:rPr lang="en-US" smtClean="0"/>
              <a:t>‹#›</a:t>
            </a:fld>
            <a:endParaRPr lang="en-US"/>
          </a:p>
        </p:txBody>
      </p:sp>
    </p:spTree>
    <p:extLst>
      <p:ext uri="{BB962C8B-B14F-4D97-AF65-F5344CB8AC3E}">
        <p14:creationId xmlns:p14="http://schemas.microsoft.com/office/powerpoint/2010/main" val="2344753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none" strike="noStrike" dirty="0" err="1">
                <a:effectLst/>
                <a:latin typeface="Google Sans"/>
              </a:rPr>
              <a:t>arsing</a:t>
            </a:r>
            <a:r>
              <a:rPr lang="en-US" b="1" u="none" strike="noStrike" dirty="0">
                <a:effectLst/>
                <a:latin typeface="Google Sans"/>
              </a:rPr>
              <a:t> HTML content</a:t>
            </a:r>
            <a:r>
              <a:rPr lang="en-US" dirty="0"/>
              <a:t> means taking raw, unstructured HTML code as plain text, analyzing its syntax, and converting it into a structured, hierarchical format that a program can read and manipulate</a:t>
            </a:r>
          </a:p>
        </p:txBody>
      </p:sp>
      <p:sp>
        <p:nvSpPr>
          <p:cNvPr id="4" name="Slide Number Placeholder 3"/>
          <p:cNvSpPr>
            <a:spLocks noGrp="1"/>
          </p:cNvSpPr>
          <p:nvPr>
            <p:ph type="sldNum" sz="quarter" idx="5"/>
          </p:nvPr>
        </p:nvSpPr>
        <p:spPr/>
        <p:txBody>
          <a:bodyPr/>
          <a:lstStyle/>
          <a:p>
            <a:fld id="{942FE4B3-2784-4E48-B3AC-C95D8A80250F}" type="slidenum">
              <a:rPr lang="en-US" smtClean="0"/>
              <a:t>4</a:t>
            </a:fld>
            <a:endParaRPr lang="en-US"/>
          </a:p>
        </p:txBody>
      </p:sp>
    </p:spTree>
    <p:extLst>
      <p:ext uri="{BB962C8B-B14F-4D97-AF65-F5344CB8AC3E}">
        <p14:creationId xmlns:p14="http://schemas.microsoft.com/office/powerpoint/2010/main" val="2796777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C7CC0-2072-BAC0-AA84-3C7A42EBA4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E3A6554-609B-47F3-864D-569672C94E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4E4B45C-D324-8EEC-52AB-2E5C11C37718}"/>
              </a:ext>
            </a:extLst>
          </p:cNvPr>
          <p:cNvSpPr>
            <a:spLocks noGrp="1"/>
          </p:cNvSpPr>
          <p:nvPr>
            <p:ph type="dt" sz="half" idx="10"/>
          </p:nvPr>
        </p:nvSpPr>
        <p:spPr/>
        <p:txBody>
          <a:bodyPr/>
          <a:lstStyle/>
          <a:p>
            <a:fld id="{57339C79-ADA5-3E49-80D1-622B29BB9357}" type="datetimeFigureOut">
              <a:rPr lang="en-US" smtClean="0"/>
              <a:t>8/7/26</a:t>
            </a:fld>
            <a:endParaRPr lang="en-US"/>
          </a:p>
        </p:txBody>
      </p:sp>
      <p:sp>
        <p:nvSpPr>
          <p:cNvPr id="5" name="Footer Placeholder 4">
            <a:extLst>
              <a:ext uri="{FF2B5EF4-FFF2-40B4-BE49-F238E27FC236}">
                <a16:creationId xmlns:a16="http://schemas.microsoft.com/office/drawing/2014/main" id="{0D3D56AB-BBE8-117F-49A3-ABBCA93D1A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1277E9-6C33-C65E-9A40-5F6E445EBBC2}"/>
              </a:ext>
            </a:extLst>
          </p:cNvPr>
          <p:cNvSpPr>
            <a:spLocks noGrp="1"/>
          </p:cNvSpPr>
          <p:nvPr>
            <p:ph type="sldNum" sz="quarter" idx="12"/>
          </p:nvPr>
        </p:nvSpPr>
        <p:spPr/>
        <p:txBody>
          <a:bodyPr/>
          <a:lstStyle/>
          <a:p>
            <a:fld id="{2DC06957-B839-BD45-B5F3-19EE2245BB56}" type="slidenum">
              <a:rPr lang="en-US" smtClean="0"/>
              <a:t>‹#›</a:t>
            </a:fld>
            <a:endParaRPr lang="en-US"/>
          </a:p>
        </p:txBody>
      </p:sp>
    </p:spTree>
    <p:extLst>
      <p:ext uri="{BB962C8B-B14F-4D97-AF65-F5344CB8AC3E}">
        <p14:creationId xmlns:p14="http://schemas.microsoft.com/office/powerpoint/2010/main" val="2675297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F87F3-E0C4-9678-9DE5-5DD931ECA9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4C2283-7C3B-4047-04DB-690B866ACE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9C9E3A-3EEA-B8A9-8DFD-093C99BA7C34}"/>
              </a:ext>
            </a:extLst>
          </p:cNvPr>
          <p:cNvSpPr>
            <a:spLocks noGrp="1"/>
          </p:cNvSpPr>
          <p:nvPr>
            <p:ph type="dt" sz="half" idx="10"/>
          </p:nvPr>
        </p:nvSpPr>
        <p:spPr/>
        <p:txBody>
          <a:bodyPr/>
          <a:lstStyle/>
          <a:p>
            <a:fld id="{57339C79-ADA5-3E49-80D1-622B29BB9357}" type="datetimeFigureOut">
              <a:rPr lang="en-US" smtClean="0"/>
              <a:t>8/7/26</a:t>
            </a:fld>
            <a:endParaRPr lang="en-US"/>
          </a:p>
        </p:txBody>
      </p:sp>
      <p:sp>
        <p:nvSpPr>
          <p:cNvPr id="5" name="Footer Placeholder 4">
            <a:extLst>
              <a:ext uri="{FF2B5EF4-FFF2-40B4-BE49-F238E27FC236}">
                <a16:creationId xmlns:a16="http://schemas.microsoft.com/office/drawing/2014/main" id="{A23F0DF2-419B-3580-46D1-007528F37E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F5F839-3EE7-8C18-319C-825188BC1D64}"/>
              </a:ext>
            </a:extLst>
          </p:cNvPr>
          <p:cNvSpPr>
            <a:spLocks noGrp="1"/>
          </p:cNvSpPr>
          <p:nvPr>
            <p:ph type="sldNum" sz="quarter" idx="12"/>
          </p:nvPr>
        </p:nvSpPr>
        <p:spPr/>
        <p:txBody>
          <a:bodyPr/>
          <a:lstStyle/>
          <a:p>
            <a:fld id="{2DC06957-B839-BD45-B5F3-19EE2245BB56}" type="slidenum">
              <a:rPr lang="en-US" smtClean="0"/>
              <a:t>‹#›</a:t>
            </a:fld>
            <a:endParaRPr lang="en-US"/>
          </a:p>
        </p:txBody>
      </p:sp>
    </p:spTree>
    <p:extLst>
      <p:ext uri="{BB962C8B-B14F-4D97-AF65-F5344CB8AC3E}">
        <p14:creationId xmlns:p14="http://schemas.microsoft.com/office/powerpoint/2010/main" val="3440843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BFA17-B48B-A853-B6FD-745BF5A90E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F8DAEC-36D0-DF85-545C-BCFFE29590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FDE7EF-9A86-A669-2191-DCC4959D2E06}"/>
              </a:ext>
            </a:extLst>
          </p:cNvPr>
          <p:cNvSpPr>
            <a:spLocks noGrp="1"/>
          </p:cNvSpPr>
          <p:nvPr>
            <p:ph type="dt" sz="half" idx="10"/>
          </p:nvPr>
        </p:nvSpPr>
        <p:spPr/>
        <p:txBody>
          <a:bodyPr/>
          <a:lstStyle/>
          <a:p>
            <a:fld id="{57339C79-ADA5-3E49-80D1-622B29BB9357}" type="datetimeFigureOut">
              <a:rPr lang="en-US" smtClean="0"/>
              <a:t>8/7/26</a:t>
            </a:fld>
            <a:endParaRPr lang="en-US"/>
          </a:p>
        </p:txBody>
      </p:sp>
      <p:sp>
        <p:nvSpPr>
          <p:cNvPr id="5" name="Footer Placeholder 4">
            <a:extLst>
              <a:ext uri="{FF2B5EF4-FFF2-40B4-BE49-F238E27FC236}">
                <a16:creationId xmlns:a16="http://schemas.microsoft.com/office/drawing/2014/main" id="{DE9045C1-8E4F-E882-07AF-E8463FA1C2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1ACCA2-73B6-3376-CB4D-67850D941424}"/>
              </a:ext>
            </a:extLst>
          </p:cNvPr>
          <p:cNvSpPr>
            <a:spLocks noGrp="1"/>
          </p:cNvSpPr>
          <p:nvPr>
            <p:ph type="sldNum" sz="quarter" idx="12"/>
          </p:nvPr>
        </p:nvSpPr>
        <p:spPr/>
        <p:txBody>
          <a:bodyPr/>
          <a:lstStyle/>
          <a:p>
            <a:fld id="{2DC06957-B839-BD45-B5F3-19EE2245BB56}" type="slidenum">
              <a:rPr lang="en-US" smtClean="0"/>
              <a:t>‹#›</a:t>
            </a:fld>
            <a:endParaRPr lang="en-US"/>
          </a:p>
        </p:txBody>
      </p:sp>
    </p:spTree>
    <p:extLst>
      <p:ext uri="{BB962C8B-B14F-4D97-AF65-F5344CB8AC3E}">
        <p14:creationId xmlns:p14="http://schemas.microsoft.com/office/powerpoint/2010/main" val="2778521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CCC77-C844-49A4-C65D-F5256E6B0E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CBD84D-F460-3D42-CCA8-A6F7CE6B0E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E6556AE-924E-8519-2FF3-178A777E75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6D7CE1C-FBA4-2206-CEBA-1C50DDE70502}"/>
              </a:ext>
            </a:extLst>
          </p:cNvPr>
          <p:cNvSpPr>
            <a:spLocks noGrp="1"/>
          </p:cNvSpPr>
          <p:nvPr>
            <p:ph type="dt" sz="half" idx="10"/>
          </p:nvPr>
        </p:nvSpPr>
        <p:spPr/>
        <p:txBody>
          <a:bodyPr/>
          <a:lstStyle/>
          <a:p>
            <a:fld id="{57339C79-ADA5-3E49-80D1-622B29BB9357}" type="datetimeFigureOut">
              <a:rPr lang="en-US" smtClean="0"/>
              <a:t>8/7/26</a:t>
            </a:fld>
            <a:endParaRPr lang="en-US"/>
          </a:p>
        </p:txBody>
      </p:sp>
      <p:sp>
        <p:nvSpPr>
          <p:cNvPr id="6" name="Footer Placeholder 5">
            <a:extLst>
              <a:ext uri="{FF2B5EF4-FFF2-40B4-BE49-F238E27FC236}">
                <a16:creationId xmlns:a16="http://schemas.microsoft.com/office/drawing/2014/main" id="{2644D312-D92C-8BB8-35C5-EEAE2AE02F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5A6128-31B8-8674-A7DC-E2FE2142DC05}"/>
              </a:ext>
            </a:extLst>
          </p:cNvPr>
          <p:cNvSpPr>
            <a:spLocks noGrp="1"/>
          </p:cNvSpPr>
          <p:nvPr>
            <p:ph type="sldNum" sz="quarter" idx="12"/>
          </p:nvPr>
        </p:nvSpPr>
        <p:spPr/>
        <p:txBody>
          <a:bodyPr/>
          <a:lstStyle/>
          <a:p>
            <a:fld id="{2DC06957-B839-BD45-B5F3-19EE2245BB56}" type="slidenum">
              <a:rPr lang="en-US" smtClean="0"/>
              <a:t>‹#›</a:t>
            </a:fld>
            <a:endParaRPr lang="en-US"/>
          </a:p>
        </p:txBody>
      </p:sp>
    </p:spTree>
    <p:extLst>
      <p:ext uri="{BB962C8B-B14F-4D97-AF65-F5344CB8AC3E}">
        <p14:creationId xmlns:p14="http://schemas.microsoft.com/office/powerpoint/2010/main" val="1174503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92F9C-0D4E-F834-C91F-333648F8356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8DFEED-62D2-4994-567F-6286980041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776A8B-8B22-3C63-8060-15186D9D5A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53B166F-3D10-9FCF-9CD1-835FE97721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A818D0-4384-370E-199F-39B63D956F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321F87C-3A94-9558-C5D3-5532D87DFAA6}"/>
              </a:ext>
            </a:extLst>
          </p:cNvPr>
          <p:cNvSpPr>
            <a:spLocks noGrp="1"/>
          </p:cNvSpPr>
          <p:nvPr>
            <p:ph type="dt" sz="half" idx="10"/>
          </p:nvPr>
        </p:nvSpPr>
        <p:spPr/>
        <p:txBody>
          <a:bodyPr/>
          <a:lstStyle/>
          <a:p>
            <a:fld id="{57339C79-ADA5-3E49-80D1-622B29BB9357}" type="datetimeFigureOut">
              <a:rPr lang="en-US" smtClean="0"/>
              <a:t>8/7/26</a:t>
            </a:fld>
            <a:endParaRPr lang="en-US"/>
          </a:p>
        </p:txBody>
      </p:sp>
      <p:sp>
        <p:nvSpPr>
          <p:cNvPr id="8" name="Footer Placeholder 7">
            <a:extLst>
              <a:ext uri="{FF2B5EF4-FFF2-40B4-BE49-F238E27FC236}">
                <a16:creationId xmlns:a16="http://schemas.microsoft.com/office/drawing/2014/main" id="{F84BEBE9-A185-6F8B-C254-AD4B72C0C7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19CF6C6-726B-ACC6-C06C-6379778BBEEF}"/>
              </a:ext>
            </a:extLst>
          </p:cNvPr>
          <p:cNvSpPr>
            <a:spLocks noGrp="1"/>
          </p:cNvSpPr>
          <p:nvPr>
            <p:ph type="sldNum" sz="quarter" idx="12"/>
          </p:nvPr>
        </p:nvSpPr>
        <p:spPr/>
        <p:txBody>
          <a:bodyPr/>
          <a:lstStyle/>
          <a:p>
            <a:fld id="{2DC06957-B839-BD45-B5F3-19EE2245BB56}" type="slidenum">
              <a:rPr lang="en-US" smtClean="0"/>
              <a:t>‹#›</a:t>
            </a:fld>
            <a:endParaRPr lang="en-US"/>
          </a:p>
        </p:txBody>
      </p:sp>
    </p:spTree>
    <p:extLst>
      <p:ext uri="{BB962C8B-B14F-4D97-AF65-F5344CB8AC3E}">
        <p14:creationId xmlns:p14="http://schemas.microsoft.com/office/powerpoint/2010/main" val="4115371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D4121-C936-A3F8-EAF1-1F4958E8AC0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D6D08B1-AE56-2B38-DDC9-08E1064C56FA}"/>
              </a:ext>
            </a:extLst>
          </p:cNvPr>
          <p:cNvSpPr>
            <a:spLocks noGrp="1"/>
          </p:cNvSpPr>
          <p:nvPr>
            <p:ph type="dt" sz="half" idx="10"/>
          </p:nvPr>
        </p:nvSpPr>
        <p:spPr/>
        <p:txBody>
          <a:bodyPr/>
          <a:lstStyle/>
          <a:p>
            <a:fld id="{57339C79-ADA5-3E49-80D1-622B29BB9357}" type="datetimeFigureOut">
              <a:rPr lang="en-US" smtClean="0"/>
              <a:t>8/7/26</a:t>
            </a:fld>
            <a:endParaRPr lang="en-US"/>
          </a:p>
        </p:txBody>
      </p:sp>
      <p:sp>
        <p:nvSpPr>
          <p:cNvPr id="4" name="Footer Placeholder 3">
            <a:extLst>
              <a:ext uri="{FF2B5EF4-FFF2-40B4-BE49-F238E27FC236}">
                <a16:creationId xmlns:a16="http://schemas.microsoft.com/office/drawing/2014/main" id="{40566A9C-D2B1-43D1-112E-1FE370AB05A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65A4640-23C8-EC7B-DBFD-5516F49407A6}"/>
              </a:ext>
            </a:extLst>
          </p:cNvPr>
          <p:cNvSpPr>
            <a:spLocks noGrp="1"/>
          </p:cNvSpPr>
          <p:nvPr>
            <p:ph type="sldNum" sz="quarter" idx="12"/>
          </p:nvPr>
        </p:nvSpPr>
        <p:spPr/>
        <p:txBody>
          <a:bodyPr/>
          <a:lstStyle/>
          <a:p>
            <a:fld id="{2DC06957-B839-BD45-B5F3-19EE2245BB56}" type="slidenum">
              <a:rPr lang="en-US" smtClean="0"/>
              <a:t>‹#›</a:t>
            </a:fld>
            <a:endParaRPr lang="en-US"/>
          </a:p>
        </p:txBody>
      </p:sp>
    </p:spTree>
    <p:extLst>
      <p:ext uri="{BB962C8B-B14F-4D97-AF65-F5344CB8AC3E}">
        <p14:creationId xmlns:p14="http://schemas.microsoft.com/office/powerpoint/2010/main" val="3303100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99E8F6-94E2-1B00-E110-1EACAD47A6F8}"/>
              </a:ext>
            </a:extLst>
          </p:cNvPr>
          <p:cNvSpPr>
            <a:spLocks noGrp="1"/>
          </p:cNvSpPr>
          <p:nvPr>
            <p:ph type="dt" sz="half" idx="10"/>
          </p:nvPr>
        </p:nvSpPr>
        <p:spPr/>
        <p:txBody>
          <a:bodyPr/>
          <a:lstStyle/>
          <a:p>
            <a:fld id="{57339C79-ADA5-3E49-80D1-622B29BB9357}" type="datetimeFigureOut">
              <a:rPr lang="en-US" smtClean="0"/>
              <a:t>8/7/26</a:t>
            </a:fld>
            <a:endParaRPr lang="en-US"/>
          </a:p>
        </p:txBody>
      </p:sp>
      <p:sp>
        <p:nvSpPr>
          <p:cNvPr id="3" name="Footer Placeholder 2">
            <a:extLst>
              <a:ext uri="{FF2B5EF4-FFF2-40B4-BE49-F238E27FC236}">
                <a16:creationId xmlns:a16="http://schemas.microsoft.com/office/drawing/2014/main" id="{5806A905-0346-D3BB-F998-4EDFB10B989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04147DD-1B18-3826-656B-0A1F4049211E}"/>
              </a:ext>
            </a:extLst>
          </p:cNvPr>
          <p:cNvSpPr>
            <a:spLocks noGrp="1"/>
          </p:cNvSpPr>
          <p:nvPr>
            <p:ph type="sldNum" sz="quarter" idx="12"/>
          </p:nvPr>
        </p:nvSpPr>
        <p:spPr/>
        <p:txBody>
          <a:bodyPr/>
          <a:lstStyle/>
          <a:p>
            <a:fld id="{2DC06957-B839-BD45-B5F3-19EE2245BB56}" type="slidenum">
              <a:rPr lang="en-US" smtClean="0"/>
              <a:t>‹#›</a:t>
            </a:fld>
            <a:endParaRPr lang="en-US"/>
          </a:p>
        </p:txBody>
      </p:sp>
    </p:spTree>
    <p:extLst>
      <p:ext uri="{BB962C8B-B14F-4D97-AF65-F5344CB8AC3E}">
        <p14:creationId xmlns:p14="http://schemas.microsoft.com/office/powerpoint/2010/main" val="540993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12743-F542-778E-AB42-3CEC33DDC6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00C385B-0F18-F0F7-D445-1BF36588D4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7D0E964-CC06-066C-ED0F-38CE3FC42E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72D1E0-DB13-40E2-78C6-7BF00812D5D4}"/>
              </a:ext>
            </a:extLst>
          </p:cNvPr>
          <p:cNvSpPr>
            <a:spLocks noGrp="1"/>
          </p:cNvSpPr>
          <p:nvPr>
            <p:ph type="dt" sz="half" idx="10"/>
          </p:nvPr>
        </p:nvSpPr>
        <p:spPr/>
        <p:txBody>
          <a:bodyPr/>
          <a:lstStyle/>
          <a:p>
            <a:fld id="{57339C79-ADA5-3E49-80D1-622B29BB9357}" type="datetimeFigureOut">
              <a:rPr lang="en-US" smtClean="0"/>
              <a:t>8/7/26</a:t>
            </a:fld>
            <a:endParaRPr lang="en-US"/>
          </a:p>
        </p:txBody>
      </p:sp>
      <p:sp>
        <p:nvSpPr>
          <p:cNvPr id="6" name="Footer Placeholder 5">
            <a:extLst>
              <a:ext uri="{FF2B5EF4-FFF2-40B4-BE49-F238E27FC236}">
                <a16:creationId xmlns:a16="http://schemas.microsoft.com/office/drawing/2014/main" id="{931C2D24-882C-F38C-4C7B-945123F419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C4E100-628D-9A06-4392-D2B4B8274B21}"/>
              </a:ext>
            </a:extLst>
          </p:cNvPr>
          <p:cNvSpPr>
            <a:spLocks noGrp="1"/>
          </p:cNvSpPr>
          <p:nvPr>
            <p:ph type="sldNum" sz="quarter" idx="12"/>
          </p:nvPr>
        </p:nvSpPr>
        <p:spPr/>
        <p:txBody>
          <a:bodyPr/>
          <a:lstStyle/>
          <a:p>
            <a:fld id="{2DC06957-B839-BD45-B5F3-19EE2245BB56}" type="slidenum">
              <a:rPr lang="en-US" smtClean="0"/>
              <a:t>‹#›</a:t>
            </a:fld>
            <a:endParaRPr lang="en-US"/>
          </a:p>
        </p:txBody>
      </p:sp>
    </p:spTree>
    <p:extLst>
      <p:ext uri="{BB962C8B-B14F-4D97-AF65-F5344CB8AC3E}">
        <p14:creationId xmlns:p14="http://schemas.microsoft.com/office/powerpoint/2010/main" val="2529133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F7FF1-88AB-5C1E-5326-CE2CFCDB3F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CB95C27-744A-E43A-F5B7-33A74A6CD6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B7313EF-A829-2F8D-4409-236717A604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348354-AF7A-1389-5D93-79587A903764}"/>
              </a:ext>
            </a:extLst>
          </p:cNvPr>
          <p:cNvSpPr>
            <a:spLocks noGrp="1"/>
          </p:cNvSpPr>
          <p:nvPr>
            <p:ph type="dt" sz="half" idx="10"/>
          </p:nvPr>
        </p:nvSpPr>
        <p:spPr/>
        <p:txBody>
          <a:bodyPr/>
          <a:lstStyle/>
          <a:p>
            <a:fld id="{57339C79-ADA5-3E49-80D1-622B29BB9357}" type="datetimeFigureOut">
              <a:rPr lang="en-US" smtClean="0"/>
              <a:t>8/7/26</a:t>
            </a:fld>
            <a:endParaRPr lang="en-US"/>
          </a:p>
        </p:txBody>
      </p:sp>
      <p:sp>
        <p:nvSpPr>
          <p:cNvPr id="6" name="Footer Placeholder 5">
            <a:extLst>
              <a:ext uri="{FF2B5EF4-FFF2-40B4-BE49-F238E27FC236}">
                <a16:creationId xmlns:a16="http://schemas.microsoft.com/office/drawing/2014/main" id="{004EDC09-82A7-04F7-1414-4E86161E49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760780-E7E6-4CD7-CC87-147089165BAF}"/>
              </a:ext>
            </a:extLst>
          </p:cNvPr>
          <p:cNvSpPr>
            <a:spLocks noGrp="1"/>
          </p:cNvSpPr>
          <p:nvPr>
            <p:ph type="sldNum" sz="quarter" idx="12"/>
          </p:nvPr>
        </p:nvSpPr>
        <p:spPr/>
        <p:txBody>
          <a:bodyPr/>
          <a:lstStyle/>
          <a:p>
            <a:fld id="{2DC06957-B839-BD45-B5F3-19EE2245BB56}" type="slidenum">
              <a:rPr lang="en-US" smtClean="0"/>
              <a:t>‹#›</a:t>
            </a:fld>
            <a:endParaRPr lang="en-US"/>
          </a:p>
        </p:txBody>
      </p:sp>
    </p:spTree>
    <p:extLst>
      <p:ext uri="{BB962C8B-B14F-4D97-AF65-F5344CB8AC3E}">
        <p14:creationId xmlns:p14="http://schemas.microsoft.com/office/powerpoint/2010/main" val="1732834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2126F-E6CC-B93D-86BA-0F51949EB6A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C4D9BA-C7BA-D9EB-B465-0F6CED72BF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6B9361-238B-EA33-92B5-C3287DEB3474}"/>
              </a:ext>
            </a:extLst>
          </p:cNvPr>
          <p:cNvSpPr>
            <a:spLocks noGrp="1"/>
          </p:cNvSpPr>
          <p:nvPr>
            <p:ph type="dt" sz="half" idx="10"/>
          </p:nvPr>
        </p:nvSpPr>
        <p:spPr/>
        <p:txBody>
          <a:bodyPr/>
          <a:lstStyle/>
          <a:p>
            <a:fld id="{57339C79-ADA5-3E49-80D1-622B29BB9357}" type="datetimeFigureOut">
              <a:rPr lang="en-US" smtClean="0"/>
              <a:t>8/7/26</a:t>
            </a:fld>
            <a:endParaRPr lang="en-US"/>
          </a:p>
        </p:txBody>
      </p:sp>
      <p:sp>
        <p:nvSpPr>
          <p:cNvPr id="5" name="Footer Placeholder 4">
            <a:extLst>
              <a:ext uri="{FF2B5EF4-FFF2-40B4-BE49-F238E27FC236}">
                <a16:creationId xmlns:a16="http://schemas.microsoft.com/office/drawing/2014/main" id="{185BCDE8-EB1D-7E51-AD54-352FD7166E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4AAD34-9376-B91E-2718-035DD6613223}"/>
              </a:ext>
            </a:extLst>
          </p:cNvPr>
          <p:cNvSpPr>
            <a:spLocks noGrp="1"/>
          </p:cNvSpPr>
          <p:nvPr>
            <p:ph type="sldNum" sz="quarter" idx="12"/>
          </p:nvPr>
        </p:nvSpPr>
        <p:spPr/>
        <p:txBody>
          <a:bodyPr/>
          <a:lstStyle/>
          <a:p>
            <a:fld id="{2DC06957-B839-BD45-B5F3-19EE2245BB56}" type="slidenum">
              <a:rPr lang="en-US" smtClean="0"/>
              <a:t>‹#›</a:t>
            </a:fld>
            <a:endParaRPr lang="en-US"/>
          </a:p>
        </p:txBody>
      </p:sp>
    </p:spTree>
    <p:extLst>
      <p:ext uri="{BB962C8B-B14F-4D97-AF65-F5344CB8AC3E}">
        <p14:creationId xmlns:p14="http://schemas.microsoft.com/office/powerpoint/2010/main" val="2863947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CDF48D-4116-B0F6-BCAA-EB416DBF08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CA91778-AFDF-7840-0FEE-F805EB01E8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C196D5-CB26-3607-A6C7-B40D07029576}"/>
              </a:ext>
            </a:extLst>
          </p:cNvPr>
          <p:cNvSpPr>
            <a:spLocks noGrp="1"/>
          </p:cNvSpPr>
          <p:nvPr>
            <p:ph type="dt" sz="half" idx="10"/>
          </p:nvPr>
        </p:nvSpPr>
        <p:spPr/>
        <p:txBody>
          <a:bodyPr/>
          <a:lstStyle/>
          <a:p>
            <a:fld id="{57339C79-ADA5-3E49-80D1-622B29BB9357}" type="datetimeFigureOut">
              <a:rPr lang="en-US" smtClean="0"/>
              <a:t>8/7/26</a:t>
            </a:fld>
            <a:endParaRPr lang="en-US"/>
          </a:p>
        </p:txBody>
      </p:sp>
      <p:sp>
        <p:nvSpPr>
          <p:cNvPr id="5" name="Footer Placeholder 4">
            <a:extLst>
              <a:ext uri="{FF2B5EF4-FFF2-40B4-BE49-F238E27FC236}">
                <a16:creationId xmlns:a16="http://schemas.microsoft.com/office/drawing/2014/main" id="{05791AFE-427C-D11A-B8A1-E4490CBC79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C1BBA1-8B2E-EFC1-27B4-D447C97DBE49}"/>
              </a:ext>
            </a:extLst>
          </p:cNvPr>
          <p:cNvSpPr>
            <a:spLocks noGrp="1"/>
          </p:cNvSpPr>
          <p:nvPr>
            <p:ph type="sldNum" sz="quarter" idx="12"/>
          </p:nvPr>
        </p:nvSpPr>
        <p:spPr/>
        <p:txBody>
          <a:bodyPr/>
          <a:lstStyle/>
          <a:p>
            <a:fld id="{2DC06957-B839-BD45-B5F3-19EE2245BB56}" type="slidenum">
              <a:rPr lang="en-US" smtClean="0"/>
              <a:t>‹#›</a:t>
            </a:fld>
            <a:endParaRPr lang="en-US"/>
          </a:p>
        </p:txBody>
      </p:sp>
    </p:spTree>
    <p:extLst>
      <p:ext uri="{BB962C8B-B14F-4D97-AF65-F5344CB8AC3E}">
        <p14:creationId xmlns:p14="http://schemas.microsoft.com/office/powerpoint/2010/main" val="2267520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F95041-3E0C-2DF9-898D-B2D1FB5895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73C77F2-D40B-690E-9B5B-48E67DD5C9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B516BD-8DA5-4C01-8630-AA63B9B43B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339C79-ADA5-3E49-80D1-622B29BB9357}" type="datetimeFigureOut">
              <a:rPr lang="en-US" smtClean="0"/>
              <a:t>8/7/26</a:t>
            </a:fld>
            <a:endParaRPr lang="en-US"/>
          </a:p>
        </p:txBody>
      </p:sp>
      <p:sp>
        <p:nvSpPr>
          <p:cNvPr id="5" name="Footer Placeholder 4">
            <a:extLst>
              <a:ext uri="{FF2B5EF4-FFF2-40B4-BE49-F238E27FC236}">
                <a16:creationId xmlns:a16="http://schemas.microsoft.com/office/drawing/2014/main" id="{B32DE368-ABC7-F922-9186-93072ADB30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784C904-9B3B-4237-AE9E-0B3C8ADA7F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C06957-B839-BD45-B5F3-19EE2245BB56}" type="slidenum">
              <a:rPr lang="en-US" smtClean="0"/>
              <a:t>‹#›</a:t>
            </a:fld>
            <a:endParaRPr lang="en-US"/>
          </a:p>
        </p:txBody>
      </p:sp>
    </p:spTree>
    <p:extLst>
      <p:ext uri="{BB962C8B-B14F-4D97-AF65-F5344CB8AC3E}">
        <p14:creationId xmlns:p14="http://schemas.microsoft.com/office/powerpoint/2010/main" val="25261894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realpython.com/videos/challenge-of-variety/#t=26.49" TargetMode="External"/><Relationship Id="rId13" Type="http://schemas.openxmlformats.org/officeDocument/2006/relationships/hyperlink" Target="https://realpython.com/videos/challenge-of-durability/#t=36.24" TargetMode="External"/><Relationship Id="rId3" Type="http://schemas.openxmlformats.org/officeDocument/2006/relationships/hyperlink" Target="https://realpython.com/videos/intro-to-web-scraping/#t=52.08" TargetMode="External"/><Relationship Id="rId7" Type="http://schemas.openxmlformats.org/officeDocument/2006/relationships/hyperlink" Target="https://realpython.com/videos/challenge-of-variety/#t=14.01" TargetMode="External"/><Relationship Id="rId12" Type="http://schemas.openxmlformats.org/officeDocument/2006/relationships/hyperlink" Target="https://realpython.com/videos/challenge-of-durability/#t=32.04" TargetMode="External"/><Relationship Id="rId2" Type="http://schemas.openxmlformats.org/officeDocument/2006/relationships/hyperlink" Target="https://realpython.com/videos/intro-to-web-scraping/#t=48.66" TargetMode="External"/><Relationship Id="rId1" Type="http://schemas.openxmlformats.org/officeDocument/2006/relationships/slideLayout" Target="../slideLayouts/slideLayout2.xml"/><Relationship Id="rId6" Type="http://schemas.openxmlformats.org/officeDocument/2006/relationships/hyperlink" Target="https://realpython.com/videos/intro-to-web-scraping/#t=77.25" TargetMode="External"/><Relationship Id="rId11" Type="http://schemas.openxmlformats.org/officeDocument/2006/relationships/hyperlink" Target="https://realpython.com/videos/challenge-of-durability/#t=28.74" TargetMode="External"/><Relationship Id="rId5" Type="http://schemas.openxmlformats.org/officeDocument/2006/relationships/hyperlink" Target="https://realpython.com/videos/intro-to-web-scraping/#t=73.41" TargetMode="External"/><Relationship Id="rId10" Type="http://schemas.openxmlformats.org/officeDocument/2006/relationships/hyperlink" Target="https://realpython.com/videos/challenge-of-durability/#t=25.11" TargetMode="External"/><Relationship Id="rId4" Type="http://schemas.openxmlformats.org/officeDocument/2006/relationships/hyperlink" Target="https://realpython.com/videos/intro-to-web-scraping/#t=56.7" TargetMode="External"/><Relationship Id="rId9" Type="http://schemas.openxmlformats.org/officeDocument/2006/relationships/hyperlink" Target="https://realpython.com/videos/challenge-of-variety/#t=30.15"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DE396-5153-2493-6C7C-5C2FFCF777EA}"/>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2F3625E4-8178-CA5F-C123-750CCEE0E98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232639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DC2FF-3DA8-A431-DF5D-35F7810731A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1E8177D-789F-B8B3-BD4B-8949505BCB0F}"/>
              </a:ext>
            </a:extLst>
          </p:cNvPr>
          <p:cNvSpPr>
            <a:spLocks noGrp="1"/>
          </p:cNvSpPr>
          <p:nvPr>
            <p:ph idx="1"/>
          </p:nvPr>
        </p:nvSpPr>
        <p:spPr/>
        <p:txBody>
          <a:bodyPr>
            <a:normAutofit fontScale="70000" lnSpcReduction="20000"/>
          </a:bodyPr>
          <a:lstStyle/>
          <a:p>
            <a:pPr>
              <a:lnSpc>
                <a:spcPct val="110000"/>
              </a:lnSpc>
            </a:pPr>
            <a:r>
              <a:rPr lang="en-US" sz="3000" dirty="0">
                <a:solidFill>
                  <a:srgbClr val="2F3956"/>
                </a:solidFill>
                <a:latin typeface="Work Sans" pitchFamily="2" charset="77"/>
                <a:hlinkClick r:id="rId2">
                  <a:extLst>
                    <a:ext uri="{A12FA001-AC4F-418D-AE19-62706E023703}">
                      <ahyp:hlinkClr xmlns:ahyp="http://schemas.microsoft.com/office/drawing/2018/hyperlinkcolor" val="tx"/>
                    </a:ext>
                  </a:extLst>
                </a:hlinkClick>
              </a:rPr>
              <a:t> web scraping </a:t>
            </a:r>
            <a:r>
              <a:rPr lang="en-US" sz="3000" dirty="0">
                <a:solidFill>
                  <a:srgbClr val="2F3956"/>
                </a:solidFill>
                <a:latin typeface="Work Sans" pitchFamily="2" charset="77"/>
              </a:rPr>
              <a:t>- </a:t>
            </a:r>
            <a:r>
              <a:rPr lang="en-US" sz="3000" dirty="0">
                <a:solidFill>
                  <a:srgbClr val="2F3956"/>
                </a:solidFill>
                <a:latin typeface="Work Sans" pitchFamily="2" charset="77"/>
                <a:hlinkClick r:id="rId3">
                  <a:extLst>
                    <a:ext uri="{A12FA001-AC4F-418D-AE19-62706E023703}">
                      <ahyp:hlinkClr xmlns:ahyp="http://schemas.microsoft.com/office/drawing/2018/hyperlinkcolor" val="tx"/>
                    </a:ext>
                  </a:extLst>
                </a:hlinkClick>
              </a:rPr>
              <a:t>the automated gathering of information from the web.</a:t>
            </a:r>
            <a:endParaRPr lang="en-US" sz="3000" dirty="0">
              <a:solidFill>
                <a:srgbClr val="2F3956"/>
              </a:solidFill>
              <a:latin typeface="Work Sans" pitchFamily="2" charset="77"/>
            </a:endParaRPr>
          </a:p>
          <a:p>
            <a:pPr>
              <a:lnSpc>
                <a:spcPct val="110000"/>
              </a:lnSpc>
            </a:pPr>
            <a:r>
              <a:rPr lang="en-US" sz="3000" dirty="0">
                <a:solidFill>
                  <a:srgbClr val="2F3956"/>
                </a:solidFill>
                <a:latin typeface="Work Sans" pitchFamily="2" charset="77"/>
              </a:rPr>
              <a:t> </a:t>
            </a:r>
            <a:r>
              <a:rPr lang="en-US" sz="3000" dirty="0">
                <a:solidFill>
                  <a:srgbClr val="2F3956"/>
                </a:solidFill>
                <a:latin typeface="Work Sans" pitchFamily="2" charset="77"/>
                <a:hlinkClick r:id="rId4">
                  <a:extLst>
                    <a:ext uri="{A12FA001-AC4F-418D-AE19-62706E023703}">
                      <ahyp:hlinkClr xmlns:ahyp="http://schemas.microsoft.com/office/drawing/2018/hyperlinkcolor" val="tx"/>
                    </a:ext>
                  </a:extLst>
                </a:hlinkClick>
              </a:rPr>
              <a:t>writing some code that fetches information from the internet.</a:t>
            </a:r>
            <a:r>
              <a:rPr lang="en-US" sz="3000" dirty="0">
                <a:solidFill>
                  <a:srgbClr val="2F3956"/>
                </a:solidFill>
                <a:latin typeface="Work Sans" pitchFamily="2" charset="77"/>
              </a:rPr>
              <a:t>,</a:t>
            </a:r>
            <a:r>
              <a:rPr lang="en-US" sz="3000" dirty="0">
                <a:solidFill>
                  <a:srgbClr val="2F3956"/>
                </a:solidFill>
                <a:latin typeface="Work Sans" pitchFamily="2" charset="77"/>
                <a:hlinkClick r:id="rId5">
                  <a:extLst>
                    <a:ext uri="{A12FA001-AC4F-418D-AE19-62706E023703}">
                      <ahyp:hlinkClr xmlns:ahyp="http://schemas.microsoft.com/office/drawing/2018/hyperlinkcolor" val="tx"/>
                    </a:ext>
                  </a:extLst>
                </a:hlinkClick>
              </a:rPr>
              <a:t> just pull all the information</a:t>
            </a:r>
            <a:r>
              <a:rPr lang="en-US" sz="3000" dirty="0">
                <a:solidFill>
                  <a:srgbClr val="2F3956"/>
                </a:solidFill>
                <a:latin typeface="Work Sans" pitchFamily="2" charset="77"/>
              </a:rPr>
              <a:t> </a:t>
            </a:r>
            <a:r>
              <a:rPr lang="en-US" sz="3000" dirty="0">
                <a:solidFill>
                  <a:srgbClr val="2F3956"/>
                </a:solidFill>
                <a:latin typeface="Work Sans" pitchFamily="2" charset="77"/>
                <a:hlinkClick r:id="rId6">
                  <a:extLst>
                    <a:ext uri="{A12FA001-AC4F-418D-AE19-62706E023703}">
                      <ahyp:hlinkClr xmlns:ahyp="http://schemas.microsoft.com/office/drawing/2018/hyperlinkcolor" val="tx"/>
                    </a:ext>
                  </a:extLst>
                </a:hlinkClick>
              </a:rPr>
              <a:t>with a script.</a:t>
            </a:r>
            <a:endParaRPr lang="en-US" sz="3000" dirty="0">
              <a:solidFill>
                <a:srgbClr val="2F3956"/>
              </a:solidFill>
              <a:latin typeface="Work Sans" pitchFamily="2" charset="77"/>
            </a:endParaRPr>
          </a:p>
          <a:p>
            <a:pPr>
              <a:lnSpc>
                <a:spcPct val="110000"/>
              </a:lnSpc>
            </a:pPr>
            <a:r>
              <a:rPr lang="en-US" sz="3000" dirty="0">
                <a:solidFill>
                  <a:srgbClr val="2F3956"/>
                </a:solidFill>
                <a:latin typeface="Work Sans" pitchFamily="2" charset="77"/>
              </a:rPr>
              <a:t> Variety-</a:t>
            </a:r>
            <a:r>
              <a:rPr lang="en-US" sz="3000" dirty="0">
                <a:solidFill>
                  <a:srgbClr val="2F3956"/>
                </a:solidFill>
                <a:latin typeface="Work Sans" pitchFamily="2" charset="77"/>
                <a:hlinkClick r:id="rId7">
                  <a:extLst>
                    <a:ext uri="{A12FA001-AC4F-418D-AE19-62706E023703}">
                      <ahyp:hlinkClr xmlns:ahyp="http://schemas.microsoft.com/office/drawing/2018/hyperlinkcolor" val="tx"/>
                    </a:ext>
                  </a:extLst>
                </a:hlinkClick>
              </a:rPr>
              <a:t>So, each of these pages has its own structure.</a:t>
            </a:r>
            <a:r>
              <a:rPr lang="en-US" sz="3000" dirty="0">
                <a:solidFill>
                  <a:srgbClr val="2F3956"/>
                </a:solidFill>
                <a:latin typeface="Work Sans" pitchFamily="2" charset="77"/>
              </a:rPr>
              <a:t> </a:t>
            </a:r>
          </a:p>
          <a:p>
            <a:pPr>
              <a:lnSpc>
                <a:spcPct val="110000"/>
              </a:lnSpc>
            </a:pPr>
            <a:r>
              <a:rPr lang="en-US" sz="3000" dirty="0">
                <a:solidFill>
                  <a:srgbClr val="2F3956"/>
                </a:solidFill>
                <a:latin typeface="Work Sans" pitchFamily="2" charset="77"/>
                <a:hlinkClick r:id="rId8">
                  <a:extLst>
                    <a:ext uri="{A12FA001-AC4F-418D-AE19-62706E023703}">
                      <ahyp:hlinkClr xmlns:ahyp="http://schemas.microsoft.com/office/drawing/2018/hyperlinkcolor" val="tx"/>
                    </a:ext>
                  </a:extLst>
                </a:hlinkClick>
              </a:rPr>
              <a:t>So if you write a scraper for one page,</a:t>
            </a:r>
            <a:r>
              <a:rPr lang="en-US" sz="3000" dirty="0">
                <a:solidFill>
                  <a:srgbClr val="2F3956"/>
                </a:solidFill>
                <a:latin typeface="Work Sans" pitchFamily="2" charset="77"/>
              </a:rPr>
              <a:t> </a:t>
            </a:r>
            <a:r>
              <a:rPr lang="en-US" sz="3000" dirty="0">
                <a:solidFill>
                  <a:srgbClr val="2F3956"/>
                </a:solidFill>
                <a:latin typeface="Work Sans" pitchFamily="2" charset="77"/>
                <a:hlinkClick r:id="rId9">
                  <a:extLst>
                    <a:ext uri="{A12FA001-AC4F-418D-AE19-62706E023703}">
                      <ahyp:hlinkClr xmlns:ahyp="http://schemas.microsoft.com/office/drawing/2018/hyperlinkcolor" val="tx"/>
                    </a:ext>
                  </a:extLst>
                </a:hlinkClick>
              </a:rPr>
              <a:t>it’s not going to work for a different page because every page is special.</a:t>
            </a:r>
            <a:endParaRPr lang="en-US" sz="3000" dirty="0">
              <a:solidFill>
                <a:srgbClr val="2F3956"/>
              </a:solidFill>
              <a:latin typeface="Work Sans" pitchFamily="2" charset="77"/>
            </a:endParaRPr>
          </a:p>
          <a:p>
            <a:pPr>
              <a:lnSpc>
                <a:spcPct val="110000"/>
              </a:lnSpc>
            </a:pPr>
            <a:r>
              <a:rPr lang="en-US" sz="3000" dirty="0" err="1">
                <a:solidFill>
                  <a:srgbClr val="2F3956"/>
                </a:solidFill>
                <a:latin typeface="Work Sans" pitchFamily="2" charset="77"/>
              </a:rPr>
              <a:t>Duarbility</a:t>
            </a:r>
            <a:r>
              <a:rPr lang="en-US" sz="3000" dirty="0">
                <a:solidFill>
                  <a:srgbClr val="2F3956"/>
                </a:solidFill>
                <a:latin typeface="Work Sans" pitchFamily="2" charset="77"/>
              </a:rPr>
              <a:t>-</a:t>
            </a:r>
            <a:r>
              <a:rPr lang="en-US" sz="3000" dirty="0">
                <a:solidFill>
                  <a:srgbClr val="2F3956"/>
                </a:solidFill>
                <a:latin typeface="Work Sans" pitchFamily="2" charset="77"/>
                <a:hlinkClick r:id="rId10">
                  <a:extLst>
                    <a:ext uri="{A12FA001-AC4F-418D-AE19-62706E023703}">
                      <ahyp:hlinkClr xmlns:ahyp="http://schemas.microsoft.com/office/drawing/2018/hyperlinkcolor" val="tx"/>
                    </a:ext>
                  </a:extLst>
                </a:hlinkClick>
              </a:rPr>
              <a:t>Their structure doesn’t stay the same, because people keep working on them,</a:t>
            </a:r>
            <a:r>
              <a:rPr lang="en-US" sz="3000" dirty="0">
                <a:solidFill>
                  <a:srgbClr val="2F3956"/>
                </a:solidFill>
                <a:latin typeface="Work Sans" pitchFamily="2" charset="77"/>
              </a:rPr>
              <a:t> </a:t>
            </a:r>
            <a:r>
              <a:rPr lang="en-US" sz="3000" dirty="0">
                <a:solidFill>
                  <a:srgbClr val="2F3956"/>
                </a:solidFill>
                <a:latin typeface="Work Sans" pitchFamily="2" charset="77"/>
                <a:hlinkClick r:id="rId11">
                  <a:extLst>
                    <a:ext uri="{A12FA001-AC4F-418D-AE19-62706E023703}">
                      <ahyp:hlinkClr xmlns:ahyp="http://schemas.microsoft.com/office/drawing/2018/hyperlinkcolor" val="tx"/>
                    </a:ext>
                  </a:extLst>
                </a:hlinkClick>
              </a:rPr>
              <a:t>improving them, changing something here, changing something there—</a:t>
            </a:r>
            <a:r>
              <a:rPr lang="en-US" sz="3000" dirty="0">
                <a:solidFill>
                  <a:srgbClr val="2F3956"/>
                </a:solidFill>
                <a:latin typeface="Work Sans" pitchFamily="2" charset="77"/>
                <a:hlinkClick r:id="rId12">
                  <a:extLst>
                    <a:ext uri="{A12FA001-AC4F-418D-AE19-62706E023703}">
                      <ahyp:hlinkClr xmlns:ahyp="http://schemas.microsoft.com/office/drawing/2018/hyperlinkcolor" val="tx"/>
                    </a:ext>
                  </a:extLst>
                </a:hlinkClick>
              </a:rPr>
              <a:t>and if the website changes that your scraper is customized to,</a:t>
            </a:r>
            <a:r>
              <a:rPr lang="en-US" sz="3000" dirty="0">
                <a:solidFill>
                  <a:srgbClr val="2F3956"/>
                </a:solidFill>
                <a:latin typeface="Work Sans" pitchFamily="2" charset="77"/>
              </a:rPr>
              <a:t> </a:t>
            </a:r>
            <a:r>
              <a:rPr lang="en-US" sz="3000" dirty="0">
                <a:solidFill>
                  <a:srgbClr val="2F3956"/>
                </a:solidFill>
                <a:latin typeface="Work Sans" pitchFamily="2" charset="77"/>
                <a:hlinkClick r:id="rId13">
                  <a:extLst>
                    <a:ext uri="{A12FA001-AC4F-418D-AE19-62706E023703}">
                      <ahyp:hlinkClr xmlns:ahyp="http://schemas.microsoft.com/office/drawing/2018/hyperlinkcolor" val="tx"/>
                    </a:ext>
                  </a:extLst>
                </a:hlinkClick>
              </a:rPr>
              <a:t>then your scraper is going to break.</a:t>
            </a:r>
            <a:endParaRPr lang="en-US" sz="3000" dirty="0">
              <a:solidFill>
                <a:srgbClr val="2F3956"/>
              </a:solidFill>
              <a:latin typeface="Work Sans" pitchFamily="2" charset="77"/>
            </a:endParaRPr>
          </a:p>
          <a:p>
            <a:br>
              <a:rPr lang="en-US" dirty="0"/>
            </a:br>
            <a:endParaRPr lang="en-US" u="sng" dirty="0"/>
          </a:p>
        </p:txBody>
      </p:sp>
    </p:spTree>
    <p:extLst>
      <p:ext uri="{BB962C8B-B14F-4D97-AF65-F5344CB8AC3E}">
        <p14:creationId xmlns:p14="http://schemas.microsoft.com/office/powerpoint/2010/main" val="2505148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B2937-F4A7-7F6A-CA50-FE2DA62557A7}"/>
              </a:ext>
            </a:extLst>
          </p:cNvPr>
          <p:cNvSpPr>
            <a:spLocks noGrp="1"/>
          </p:cNvSpPr>
          <p:nvPr>
            <p:ph type="title"/>
          </p:nvPr>
        </p:nvSpPr>
        <p:spPr/>
        <p:txBody>
          <a:bodyPr/>
          <a:lstStyle/>
          <a:p>
            <a:r>
              <a:rPr lang="en-US" b="0" i="0" dirty="0">
                <a:solidFill>
                  <a:srgbClr val="151D33"/>
                </a:solidFill>
                <a:effectLst/>
                <a:latin typeface="grotesk"/>
              </a:rPr>
              <a:t>What is Web Scraping?</a:t>
            </a:r>
            <a:br>
              <a:rPr lang="en-US" b="0" i="0" dirty="0">
                <a:solidFill>
                  <a:srgbClr val="151D33"/>
                </a:solidFill>
                <a:effectLst/>
                <a:latin typeface="grotesk"/>
              </a:rPr>
            </a:br>
            <a:endParaRPr lang="en-US" dirty="0"/>
          </a:p>
        </p:txBody>
      </p:sp>
      <p:sp>
        <p:nvSpPr>
          <p:cNvPr id="3" name="Content Placeholder 2">
            <a:extLst>
              <a:ext uri="{FF2B5EF4-FFF2-40B4-BE49-F238E27FC236}">
                <a16:creationId xmlns:a16="http://schemas.microsoft.com/office/drawing/2014/main" id="{00A42BB8-9B5A-F93D-A98E-F99E7F1F6095}"/>
              </a:ext>
            </a:extLst>
          </p:cNvPr>
          <p:cNvSpPr>
            <a:spLocks noGrp="1"/>
          </p:cNvSpPr>
          <p:nvPr>
            <p:ph idx="1"/>
          </p:nvPr>
        </p:nvSpPr>
        <p:spPr/>
        <p:txBody>
          <a:bodyPr>
            <a:normAutofit fontScale="92500" lnSpcReduction="10000"/>
          </a:bodyPr>
          <a:lstStyle/>
          <a:p>
            <a:pPr algn="l"/>
            <a:r>
              <a:rPr lang="en-US" b="0" i="0" dirty="0">
                <a:solidFill>
                  <a:srgbClr val="2F3956"/>
                </a:solidFill>
                <a:effectLst/>
                <a:latin typeface="Work Sans" pitchFamily="2" charset="77"/>
              </a:rPr>
              <a:t>Web scraping is the process of extracting data from websites. </a:t>
            </a:r>
          </a:p>
          <a:p>
            <a:pPr algn="l"/>
            <a:r>
              <a:rPr lang="en-US" b="0" i="0" dirty="0">
                <a:solidFill>
                  <a:srgbClr val="2F3956"/>
                </a:solidFill>
                <a:effectLst/>
                <a:latin typeface="Work Sans" pitchFamily="2" charset="77"/>
              </a:rPr>
              <a:t>It involves fetching the HTML content of a webpage and then parsing it to extract the desired information. </a:t>
            </a:r>
          </a:p>
          <a:p>
            <a:pPr algn="l"/>
            <a:r>
              <a:rPr lang="en-US" b="0" i="0" dirty="0">
                <a:solidFill>
                  <a:srgbClr val="2F3956"/>
                </a:solidFill>
                <a:effectLst/>
                <a:latin typeface="Work Sans" pitchFamily="2" charset="77"/>
              </a:rPr>
              <a:t>Web scraping is a common technique used in various fields, including data science, market research, and business intelligence.</a:t>
            </a:r>
          </a:p>
          <a:p>
            <a:pPr algn="l"/>
            <a:r>
              <a:rPr lang="en-US" b="0" i="0" dirty="0">
                <a:solidFill>
                  <a:srgbClr val="2F3956"/>
                </a:solidFill>
                <a:effectLst/>
                <a:latin typeface="Work Sans" pitchFamily="2" charset="77"/>
              </a:rPr>
              <a:t>For example, you might scrape a website </a:t>
            </a:r>
          </a:p>
          <a:p>
            <a:pPr algn="l"/>
            <a:r>
              <a:rPr lang="en-US" b="0" i="0" dirty="0">
                <a:solidFill>
                  <a:srgbClr val="2F3956"/>
                </a:solidFill>
                <a:effectLst/>
                <a:latin typeface="Work Sans" pitchFamily="2" charset="77"/>
              </a:rPr>
              <a:t>to extract product information for price comparison,</a:t>
            </a:r>
          </a:p>
          <a:p>
            <a:pPr algn="l"/>
            <a:r>
              <a:rPr lang="en-US" b="0" i="0" dirty="0">
                <a:solidFill>
                  <a:srgbClr val="2F3956"/>
                </a:solidFill>
                <a:effectLst/>
                <a:latin typeface="Work Sans" pitchFamily="2" charset="77"/>
              </a:rPr>
              <a:t>gather news headlines for sentiment analysis</a:t>
            </a:r>
          </a:p>
          <a:p>
            <a:pPr algn="l"/>
            <a:r>
              <a:rPr lang="en-US" b="0" i="0" dirty="0">
                <a:solidFill>
                  <a:srgbClr val="2F3956"/>
                </a:solidFill>
                <a:effectLst/>
                <a:latin typeface="Work Sans" pitchFamily="2" charset="77"/>
              </a:rPr>
              <a:t>collect job postings for market research. </a:t>
            </a:r>
          </a:p>
          <a:p>
            <a:endParaRPr lang="en-US" dirty="0"/>
          </a:p>
        </p:txBody>
      </p:sp>
    </p:spTree>
    <p:extLst>
      <p:ext uri="{BB962C8B-B14F-4D97-AF65-F5344CB8AC3E}">
        <p14:creationId xmlns:p14="http://schemas.microsoft.com/office/powerpoint/2010/main" val="344794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C9316-E119-F192-3286-4BB3844B3EDC}"/>
              </a:ext>
            </a:extLst>
          </p:cNvPr>
          <p:cNvSpPr>
            <a:spLocks noGrp="1"/>
          </p:cNvSpPr>
          <p:nvPr>
            <p:ph type="title"/>
          </p:nvPr>
        </p:nvSpPr>
        <p:spPr/>
        <p:txBody>
          <a:bodyPr/>
          <a:lstStyle/>
          <a:p>
            <a:r>
              <a:rPr lang="en-US" b="0" i="0" dirty="0" err="1">
                <a:solidFill>
                  <a:srgbClr val="2F3956"/>
                </a:solidFill>
                <a:effectLst/>
                <a:latin typeface="Work Sans" pitchFamily="2" charset="77"/>
              </a:rPr>
              <a:t>BeautifulSoup</a:t>
            </a:r>
            <a:endParaRPr lang="en-US" dirty="0"/>
          </a:p>
        </p:txBody>
      </p:sp>
      <p:sp>
        <p:nvSpPr>
          <p:cNvPr id="3" name="Content Placeholder 2">
            <a:extLst>
              <a:ext uri="{FF2B5EF4-FFF2-40B4-BE49-F238E27FC236}">
                <a16:creationId xmlns:a16="http://schemas.microsoft.com/office/drawing/2014/main" id="{56E3AAF4-E3A5-ED47-E052-9E11EEF65C6B}"/>
              </a:ext>
            </a:extLst>
          </p:cNvPr>
          <p:cNvSpPr>
            <a:spLocks noGrp="1"/>
          </p:cNvSpPr>
          <p:nvPr>
            <p:ph idx="1"/>
          </p:nvPr>
        </p:nvSpPr>
        <p:spPr/>
        <p:txBody>
          <a:bodyPr>
            <a:normAutofit/>
          </a:bodyPr>
          <a:lstStyle/>
          <a:p>
            <a:pPr algn="l"/>
            <a:r>
              <a:rPr lang="en-US" b="0" i="0" dirty="0" err="1">
                <a:solidFill>
                  <a:srgbClr val="2F3956"/>
                </a:solidFill>
                <a:effectLst/>
                <a:latin typeface="Work Sans" pitchFamily="2" charset="77"/>
              </a:rPr>
              <a:t>BeautifulSoup</a:t>
            </a:r>
            <a:r>
              <a:rPr lang="en-US" b="0" i="0" dirty="0">
                <a:solidFill>
                  <a:srgbClr val="2F3956"/>
                </a:solidFill>
                <a:effectLst/>
                <a:latin typeface="Work Sans" pitchFamily="2" charset="77"/>
              </a:rPr>
              <a:t> is a Python library that's used for parsing HTML and XML documents and is often used to extract data from web pages.</a:t>
            </a:r>
          </a:p>
          <a:p>
            <a:pPr algn="l"/>
            <a:r>
              <a:rPr lang="en-US" b="0" i="0" dirty="0">
                <a:solidFill>
                  <a:srgbClr val="2F3956"/>
                </a:solidFill>
                <a:effectLst/>
                <a:latin typeface="Work Sans" pitchFamily="2" charset="77"/>
              </a:rPr>
              <a:t> It creates a parse tree from page source code that can be used to extract data in a more readable and hierarchical manner.</a:t>
            </a:r>
          </a:p>
          <a:p>
            <a:pPr algn="l"/>
            <a:endParaRPr lang="en-US" b="0" i="0" dirty="0">
              <a:solidFill>
                <a:srgbClr val="2F3956"/>
              </a:solidFill>
              <a:effectLst/>
              <a:latin typeface="jetBrainsMono"/>
            </a:endParaRPr>
          </a:p>
          <a:p>
            <a:pPr algn="l"/>
            <a:r>
              <a:rPr lang="en-US" b="0" i="0" dirty="0">
                <a:solidFill>
                  <a:srgbClr val="2F3956"/>
                </a:solidFill>
                <a:effectLst/>
                <a:latin typeface="jetBrainsMono"/>
              </a:rPr>
              <a:t>pip install beautifulsoup4</a:t>
            </a:r>
          </a:p>
          <a:p>
            <a:pPr algn="l"/>
            <a:r>
              <a:rPr lang="en-US" b="0" i="0" dirty="0">
                <a:solidFill>
                  <a:srgbClr val="2F3956"/>
                </a:solidFill>
                <a:effectLst/>
                <a:latin typeface="jetBrainsMono"/>
              </a:rPr>
              <a:t>from bs4 import </a:t>
            </a:r>
            <a:r>
              <a:rPr lang="en-US" b="0" i="0" dirty="0" err="1">
                <a:solidFill>
                  <a:srgbClr val="2F3956"/>
                </a:solidFill>
                <a:effectLst/>
                <a:latin typeface="jetBrainsMono"/>
              </a:rPr>
              <a:t>BeautifulSoup</a:t>
            </a:r>
            <a:endParaRPr lang="en-US" b="0" i="0" dirty="0">
              <a:solidFill>
                <a:srgbClr val="2F3956"/>
              </a:solidFill>
              <a:effectLst/>
              <a:latin typeface="jetBrainsMono"/>
            </a:endParaRPr>
          </a:p>
          <a:p>
            <a:endParaRPr lang="en-US" dirty="0"/>
          </a:p>
        </p:txBody>
      </p:sp>
    </p:spTree>
    <p:extLst>
      <p:ext uri="{BB962C8B-B14F-4D97-AF65-F5344CB8AC3E}">
        <p14:creationId xmlns:p14="http://schemas.microsoft.com/office/powerpoint/2010/main" val="2703081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7A58B-3F9A-9787-4D78-431F819792C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A253455-FDC9-E882-0948-6F1722EEF25F}"/>
              </a:ext>
            </a:extLst>
          </p:cNvPr>
          <p:cNvSpPr>
            <a:spLocks noGrp="1"/>
          </p:cNvSpPr>
          <p:nvPr>
            <p:ph idx="1"/>
          </p:nvPr>
        </p:nvSpPr>
        <p:spPr/>
        <p:txBody>
          <a:bodyPr>
            <a:normAutofit fontScale="92500"/>
          </a:bodyPr>
          <a:lstStyle/>
          <a:p>
            <a:pPr algn="l"/>
            <a:r>
              <a:rPr lang="en-US" b="0" i="0" dirty="0">
                <a:solidFill>
                  <a:srgbClr val="2F3956"/>
                </a:solidFill>
                <a:effectLst/>
                <a:latin typeface="Work Sans" pitchFamily="2" charset="77"/>
              </a:rPr>
              <a:t>HTML parsing is the process of analyzing HTML code and extracting relevant information. </a:t>
            </a:r>
          </a:p>
          <a:p>
            <a:pPr algn="l"/>
            <a:r>
              <a:rPr lang="en-US" b="0" i="0" dirty="0">
                <a:solidFill>
                  <a:srgbClr val="2F3956"/>
                </a:solidFill>
                <a:effectLst/>
                <a:latin typeface="Work Sans" pitchFamily="2" charset="77"/>
              </a:rPr>
              <a:t>It's necessary when you want to extract specific data from a given webpage, for instance, if you want to grab all the headlines from a news site's homepage.</a:t>
            </a:r>
          </a:p>
          <a:p>
            <a:pPr algn="l"/>
            <a:r>
              <a:rPr lang="en-US" b="0" i="0" dirty="0">
                <a:solidFill>
                  <a:srgbClr val="2F3956"/>
                </a:solidFill>
                <a:effectLst/>
                <a:latin typeface="Work Sans" pitchFamily="2" charset="77"/>
              </a:rPr>
              <a:t>To parse HTML with </a:t>
            </a:r>
            <a:r>
              <a:rPr lang="en-US" b="0" i="0" dirty="0" err="1">
                <a:solidFill>
                  <a:srgbClr val="2F3956"/>
                </a:solidFill>
                <a:effectLst/>
                <a:latin typeface="Work Sans" pitchFamily="2" charset="77"/>
              </a:rPr>
              <a:t>BeautifulSoup</a:t>
            </a:r>
            <a:r>
              <a:rPr lang="en-US" b="0" i="0" dirty="0">
                <a:solidFill>
                  <a:srgbClr val="2F3956"/>
                </a:solidFill>
                <a:effectLst/>
                <a:latin typeface="Work Sans" pitchFamily="2" charset="77"/>
              </a:rPr>
              <a:t>, you need three things:</a:t>
            </a:r>
          </a:p>
          <a:p>
            <a:pPr algn="l">
              <a:buFont typeface="+mj-lt"/>
              <a:buAutoNum type="arabicPeriod"/>
            </a:pPr>
            <a:r>
              <a:rPr lang="en-US" b="0" i="0" dirty="0">
                <a:solidFill>
                  <a:srgbClr val="2F3956"/>
                </a:solidFill>
                <a:effectLst/>
                <a:latin typeface="Work Sans" pitchFamily="2" charset="77"/>
              </a:rPr>
              <a:t>The HTML content</a:t>
            </a:r>
          </a:p>
          <a:p>
            <a:pPr algn="l">
              <a:buFont typeface="+mj-lt"/>
              <a:buAutoNum type="arabicPeriod"/>
            </a:pPr>
            <a:r>
              <a:rPr lang="en-US" b="0" i="0" dirty="0">
                <a:solidFill>
                  <a:srgbClr val="2F3956"/>
                </a:solidFill>
                <a:effectLst/>
                <a:latin typeface="Work Sans" pitchFamily="2" charset="77"/>
              </a:rPr>
              <a:t>The parser, in our case </a:t>
            </a:r>
            <a:r>
              <a:rPr lang="en-US" b="0" i="0" dirty="0" err="1">
                <a:solidFill>
                  <a:srgbClr val="2F3956"/>
                </a:solidFill>
                <a:effectLst/>
                <a:latin typeface="Work Sans" pitchFamily="2" charset="77"/>
              </a:rPr>
              <a:t>html.parser</a:t>
            </a:r>
            <a:endParaRPr lang="en-US" b="0" i="0" dirty="0">
              <a:solidFill>
                <a:srgbClr val="2F3956"/>
              </a:solidFill>
              <a:effectLst/>
              <a:latin typeface="Work Sans" pitchFamily="2" charset="77"/>
            </a:endParaRPr>
          </a:p>
          <a:p>
            <a:pPr algn="l">
              <a:buFont typeface="+mj-lt"/>
              <a:buAutoNum type="arabicPeriod"/>
            </a:pPr>
            <a:r>
              <a:rPr lang="en-US" b="0" i="0" dirty="0">
                <a:solidFill>
                  <a:srgbClr val="2F3956"/>
                </a:solidFill>
                <a:effectLst/>
                <a:latin typeface="Work Sans" pitchFamily="2" charset="77"/>
              </a:rPr>
              <a:t>A </a:t>
            </a:r>
            <a:r>
              <a:rPr lang="en-US" b="0" i="0" dirty="0" err="1">
                <a:solidFill>
                  <a:srgbClr val="2F3956"/>
                </a:solidFill>
                <a:effectLst/>
                <a:latin typeface="Work Sans" pitchFamily="2" charset="77"/>
              </a:rPr>
              <a:t>BeautifulSoup</a:t>
            </a:r>
            <a:r>
              <a:rPr lang="en-US" b="0" i="0" dirty="0">
                <a:solidFill>
                  <a:srgbClr val="2F3956"/>
                </a:solidFill>
                <a:effectLst/>
                <a:latin typeface="Work Sans" pitchFamily="2" charset="77"/>
              </a:rPr>
              <a:t> object, which you create using the HTML content and the parser.</a:t>
            </a:r>
          </a:p>
          <a:p>
            <a:endParaRPr lang="en-US" dirty="0"/>
          </a:p>
        </p:txBody>
      </p:sp>
    </p:spTree>
    <p:extLst>
      <p:ext uri="{BB962C8B-B14F-4D97-AF65-F5344CB8AC3E}">
        <p14:creationId xmlns:p14="http://schemas.microsoft.com/office/powerpoint/2010/main" val="3714804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A7B5D-D345-8F0C-1BA3-118899D70EA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7DF90CB-6736-B45A-2E76-FA1F252241C7}"/>
              </a:ext>
            </a:extLst>
          </p:cNvPr>
          <p:cNvSpPr>
            <a:spLocks noGrp="1"/>
          </p:cNvSpPr>
          <p:nvPr>
            <p:ph idx="1"/>
          </p:nvPr>
        </p:nvSpPr>
        <p:spPr/>
        <p:txBody>
          <a:bodyPr>
            <a:normAutofit fontScale="85000" lnSpcReduction="20000"/>
          </a:bodyPr>
          <a:lstStyle/>
          <a:p>
            <a:r>
              <a:rPr lang="en-US" dirty="0" err="1"/>
              <a:t>html_content</a:t>
            </a:r>
            <a:r>
              <a:rPr lang="en-US" dirty="0"/>
              <a:t> = '&lt;div&gt;&lt;p&gt;Hello, World!&lt;/p&gt;&lt;p&gt;Welcome to web scraping with </a:t>
            </a:r>
            <a:r>
              <a:rPr lang="en-US" dirty="0" err="1"/>
              <a:t>BeautifulSoup</a:t>
            </a:r>
            <a:r>
              <a:rPr lang="en-US" dirty="0"/>
              <a:t>.&lt;/p&gt;&lt;/div&gt;'</a:t>
            </a:r>
          </a:p>
          <a:p>
            <a:r>
              <a:rPr lang="en-US" dirty="0"/>
              <a:t>soup = </a:t>
            </a:r>
            <a:r>
              <a:rPr lang="en-US" dirty="0" err="1"/>
              <a:t>BeautifulSoup</a:t>
            </a:r>
            <a:r>
              <a:rPr lang="en-US" dirty="0"/>
              <a:t>(</a:t>
            </a:r>
            <a:r>
              <a:rPr lang="en-US" dirty="0" err="1"/>
              <a:t>html_content</a:t>
            </a:r>
            <a:r>
              <a:rPr lang="en-US" dirty="0"/>
              <a:t>, '</a:t>
            </a:r>
            <a:r>
              <a:rPr lang="en-US" dirty="0" err="1"/>
              <a:t>html.parser</a:t>
            </a:r>
            <a:r>
              <a:rPr lang="en-US" dirty="0"/>
              <a:t>’)</a:t>
            </a:r>
          </a:p>
          <a:p>
            <a:pPr algn="l"/>
            <a:r>
              <a:rPr lang="en-US" b="0" i="0" dirty="0">
                <a:solidFill>
                  <a:srgbClr val="2F3956"/>
                </a:solidFill>
                <a:effectLst/>
                <a:latin typeface="Work Sans" pitchFamily="2" charset="77"/>
              </a:rPr>
              <a:t>The first argument of the </a:t>
            </a:r>
            <a:r>
              <a:rPr lang="en-US" b="0" i="0" dirty="0" err="1">
                <a:solidFill>
                  <a:srgbClr val="2F3956"/>
                </a:solidFill>
                <a:effectLst/>
                <a:latin typeface="Work Sans" pitchFamily="2" charset="77"/>
              </a:rPr>
              <a:t>BeautifulSoup</a:t>
            </a:r>
            <a:r>
              <a:rPr lang="en-US" b="0" i="0" dirty="0">
                <a:solidFill>
                  <a:srgbClr val="2F3956"/>
                </a:solidFill>
                <a:effectLst/>
                <a:latin typeface="Work Sans" pitchFamily="2" charset="77"/>
              </a:rPr>
              <a:t> constructor method is a string or an open </a:t>
            </a:r>
            <a:r>
              <a:rPr lang="en-US" b="0" i="0" dirty="0" err="1">
                <a:solidFill>
                  <a:srgbClr val="2F3956"/>
                </a:solidFill>
                <a:effectLst/>
                <a:latin typeface="Work Sans" pitchFamily="2" charset="77"/>
              </a:rPr>
              <a:t>filehandle</a:t>
            </a:r>
            <a:r>
              <a:rPr lang="en-US" b="0" i="0" dirty="0">
                <a:solidFill>
                  <a:srgbClr val="2F3956"/>
                </a:solidFill>
                <a:effectLst/>
                <a:latin typeface="Work Sans" pitchFamily="2" charset="77"/>
              </a:rPr>
              <a:t>. This is the HTML content you want to parse. The second argument, '</a:t>
            </a:r>
            <a:r>
              <a:rPr lang="en-US" b="0" i="0" dirty="0" err="1">
                <a:solidFill>
                  <a:srgbClr val="2F3956"/>
                </a:solidFill>
                <a:effectLst/>
                <a:latin typeface="Work Sans" pitchFamily="2" charset="77"/>
              </a:rPr>
              <a:t>html.parser</a:t>
            </a:r>
            <a:r>
              <a:rPr lang="en-US" b="0" i="0" dirty="0">
                <a:solidFill>
                  <a:srgbClr val="2F3956"/>
                </a:solidFill>
                <a:effectLst/>
                <a:latin typeface="Work Sans" pitchFamily="2" charset="77"/>
              </a:rPr>
              <a:t>', is the parser library </a:t>
            </a:r>
            <a:r>
              <a:rPr lang="en-US" b="0" i="0" dirty="0" err="1">
                <a:solidFill>
                  <a:srgbClr val="2F3956"/>
                </a:solidFill>
                <a:effectLst/>
                <a:latin typeface="Work Sans" pitchFamily="2" charset="77"/>
              </a:rPr>
              <a:t>BeautifulSoup</a:t>
            </a:r>
            <a:r>
              <a:rPr lang="en-US" b="0" i="0" dirty="0">
                <a:solidFill>
                  <a:srgbClr val="2F3956"/>
                </a:solidFill>
                <a:effectLst/>
                <a:latin typeface="Work Sans" pitchFamily="2" charset="77"/>
              </a:rPr>
              <a:t> uses to parse the HTML. In this case, we are telling </a:t>
            </a:r>
            <a:r>
              <a:rPr lang="en-US" b="0" i="0" dirty="0" err="1">
                <a:solidFill>
                  <a:srgbClr val="2F3956"/>
                </a:solidFill>
                <a:effectLst/>
                <a:latin typeface="Work Sans" pitchFamily="2" charset="77"/>
              </a:rPr>
              <a:t>BeautifulSoup</a:t>
            </a:r>
            <a:r>
              <a:rPr lang="en-US" b="0" i="0" dirty="0">
                <a:solidFill>
                  <a:srgbClr val="2F3956"/>
                </a:solidFill>
                <a:effectLst/>
                <a:latin typeface="Work Sans" pitchFamily="2" charset="77"/>
              </a:rPr>
              <a:t> to use Python’s built-in HTML parser.</a:t>
            </a:r>
          </a:p>
          <a:p>
            <a:pPr algn="l"/>
            <a:r>
              <a:rPr lang="en-US" b="0" i="0" dirty="0">
                <a:solidFill>
                  <a:srgbClr val="2F3956"/>
                </a:solidFill>
                <a:effectLst/>
                <a:latin typeface="jetBrainsMono"/>
              </a:rPr>
              <a:t>print(soup)</a:t>
            </a:r>
          </a:p>
          <a:p>
            <a:pPr algn="l"/>
            <a:r>
              <a:rPr lang="en-US" b="0" i="0" dirty="0">
                <a:solidFill>
                  <a:srgbClr val="2F3956"/>
                </a:solidFill>
                <a:effectLst/>
                <a:latin typeface="Work Sans" pitchFamily="2" charset="77"/>
              </a:rPr>
              <a:t>This output shows that </a:t>
            </a:r>
            <a:r>
              <a:rPr lang="en-US" b="0" i="0" dirty="0" err="1">
                <a:solidFill>
                  <a:srgbClr val="2F3956"/>
                </a:solidFill>
                <a:effectLst/>
                <a:latin typeface="Work Sans" pitchFamily="2" charset="77"/>
              </a:rPr>
              <a:t>BeautifulSoup</a:t>
            </a:r>
            <a:r>
              <a:rPr lang="en-US" b="0" i="0" dirty="0">
                <a:solidFill>
                  <a:srgbClr val="2F3956"/>
                </a:solidFill>
                <a:effectLst/>
                <a:latin typeface="Work Sans" pitchFamily="2" charset="77"/>
              </a:rPr>
              <a:t> has successfully parsed the HTML content into a structured object, keeping the original structure intact. This readies it for further processing or data extraction tasks.</a:t>
            </a:r>
          </a:p>
          <a:p>
            <a:endParaRPr lang="en-US" dirty="0"/>
          </a:p>
        </p:txBody>
      </p:sp>
    </p:spTree>
    <p:extLst>
      <p:ext uri="{BB962C8B-B14F-4D97-AF65-F5344CB8AC3E}">
        <p14:creationId xmlns:p14="http://schemas.microsoft.com/office/powerpoint/2010/main" val="1668310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A3AEA-D317-4D67-0411-441D0873616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356012B-45C2-7128-5799-693D1A9DB8B4}"/>
              </a:ext>
            </a:extLst>
          </p:cNvPr>
          <p:cNvSpPr>
            <a:spLocks noGrp="1"/>
          </p:cNvSpPr>
          <p:nvPr>
            <p:ph idx="1"/>
          </p:nvPr>
        </p:nvSpPr>
        <p:spPr/>
        <p:txBody>
          <a:bodyPr>
            <a:normAutofit fontScale="77500" lnSpcReduction="20000"/>
          </a:bodyPr>
          <a:lstStyle/>
          <a:p>
            <a:pPr algn="l"/>
            <a:r>
              <a:rPr lang="en-US" b="0" i="0" dirty="0">
                <a:solidFill>
                  <a:srgbClr val="151D33"/>
                </a:solidFill>
                <a:effectLst/>
                <a:latin typeface="grotesk"/>
              </a:rPr>
              <a:t>Finding Elements</a:t>
            </a:r>
          </a:p>
          <a:p>
            <a:pPr algn="l"/>
            <a:r>
              <a:rPr lang="en-US" b="0" i="0" dirty="0">
                <a:solidFill>
                  <a:srgbClr val="2F3956"/>
                </a:solidFill>
                <a:effectLst/>
                <a:latin typeface="Work Sans" pitchFamily="2" charset="77"/>
              </a:rPr>
              <a:t>In the HTML document, the content is organized in a tree-like structure, we can locate the tags and their corresponding content using</a:t>
            </a:r>
          </a:p>
          <a:p>
            <a:pPr algn="l"/>
            <a:r>
              <a:rPr lang="en-US" b="0" i="0" dirty="0" err="1">
                <a:solidFill>
                  <a:srgbClr val="2F3956"/>
                </a:solidFill>
                <a:effectLst/>
                <a:latin typeface="Work Sans" pitchFamily="2" charset="77"/>
              </a:rPr>
              <a:t>BeautifulSoup's</a:t>
            </a:r>
            <a:r>
              <a:rPr lang="en-US" b="0" i="0" dirty="0">
                <a:solidFill>
                  <a:srgbClr val="2F3956"/>
                </a:solidFill>
                <a:effectLst/>
                <a:latin typeface="Work Sans" pitchFamily="2" charset="77"/>
              </a:rPr>
              <a:t> find method. It allows us to look for HTML tags and retrieves the first matching element.</a:t>
            </a:r>
          </a:p>
          <a:p>
            <a:pPr algn="l"/>
            <a:r>
              <a:rPr lang="en-US" b="0" i="0" dirty="0">
                <a:solidFill>
                  <a:srgbClr val="2F3956"/>
                </a:solidFill>
                <a:effectLst/>
                <a:latin typeface="Work Sans" pitchFamily="2" charset="77"/>
              </a:rPr>
              <a:t>The find function can be used like so:</a:t>
            </a:r>
          </a:p>
          <a:p>
            <a:pPr algn="l"/>
            <a:r>
              <a:rPr lang="en-US" b="0" i="0" dirty="0">
                <a:solidFill>
                  <a:srgbClr val="2F3956"/>
                </a:solidFill>
                <a:effectLst/>
                <a:latin typeface="Work Sans" pitchFamily="2" charset="77"/>
              </a:rPr>
              <a:t>Python</a:t>
            </a:r>
          </a:p>
          <a:p>
            <a:pPr algn="l"/>
            <a:r>
              <a:rPr lang="en-US" b="0" i="0" dirty="0">
                <a:solidFill>
                  <a:srgbClr val="2F3956"/>
                </a:solidFill>
                <a:effectLst/>
                <a:latin typeface="Work Sans" pitchFamily="2" charset="77"/>
              </a:rPr>
              <a:t>Copy to </a:t>
            </a:r>
            <a:r>
              <a:rPr lang="en-US" b="0" i="0" dirty="0" err="1">
                <a:solidFill>
                  <a:srgbClr val="2F3956"/>
                </a:solidFill>
                <a:effectLst/>
                <a:latin typeface="Work Sans" pitchFamily="2" charset="77"/>
              </a:rPr>
              <a:t>clipboardRun</a:t>
            </a:r>
            <a:r>
              <a:rPr lang="en-US" b="0" i="0" dirty="0">
                <a:solidFill>
                  <a:srgbClr val="2F3956"/>
                </a:solidFill>
                <a:effectLst/>
                <a:latin typeface="Work Sans" pitchFamily="2" charset="77"/>
              </a:rPr>
              <a:t> code</a:t>
            </a:r>
          </a:p>
          <a:p>
            <a:pPr algn="l"/>
            <a:r>
              <a:rPr lang="en-US" b="0" i="0" dirty="0">
                <a:solidFill>
                  <a:srgbClr val="2F3956"/>
                </a:solidFill>
                <a:effectLst/>
                <a:latin typeface="jetBrainsMono"/>
              </a:rPr>
              <a:t>element = </a:t>
            </a:r>
            <a:r>
              <a:rPr lang="en-US" b="0" i="0" dirty="0" err="1">
                <a:solidFill>
                  <a:srgbClr val="2F3956"/>
                </a:solidFill>
                <a:effectLst/>
                <a:latin typeface="jetBrainsMono"/>
              </a:rPr>
              <a:t>soup.find</a:t>
            </a:r>
            <a:r>
              <a:rPr lang="en-US" b="0" i="0" dirty="0">
                <a:solidFill>
                  <a:srgbClr val="2F3956"/>
                </a:solidFill>
                <a:effectLst/>
                <a:latin typeface="jetBrainsMono"/>
              </a:rPr>
              <a:t>('tag-name')</a:t>
            </a:r>
          </a:p>
          <a:p>
            <a:pPr algn="l"/>
            <a:r>
              <a:rPr lang="en-US" b="0" i="0" dirty="0">
                <a:solidFill>
                  <a:srgbClr val="2F3956"/>
                </a:solidFill>
                <a:effectLst/>
                <a:latin typeface="Work Sans" pitchFamily="2" charset="77"/>
              </a:rPr>
              <a:t>Where 'tag-name' is the tag you're looking for, and element will hold the first match found. If no match is found, find returns None.</a:t>
            </a:r>
          </a:p>
          <a:p>
            <a:pPr algn="l"/>
            <a:r>
              <a:rPr lang="en-US" b="0" i="0" dirty="0">
                <a:solidFill>
                  <a:srgbClr val="2F3956"/>
                </a:solidFill>
                <a:effectLst/>
                <a:latin typeface="Work Sans" pitchFamily="2" charset="77"/>
              </a:rPr>
              <a:t>It's important to note that find only retrieves the first matching element. If you'd like to retrieve all matches, you can use the </a:t>
            </a:r>
            <a:r>
              <a:rPr lang="en-US" b="0" i="0" dirty="0" err="1">
                <a:solidFill>
                  <a:srgbClr val="2F3956"/>
                </a:solidFill>
                <a:effectLst/>
                <a:latin typeface="Work Sans" pitchFamily="2" charset="77"/>
              </a:rPr>
              <a:t>find_all</a:t>
            </a:r>
            <a:r>
              <a:rPr lang="en-US" b="0" i="0" dirty="0">
                <a:solidFill>
                  <a:srgbClr val="2F3956"/>
                </a:solidFill>
                <a:effectLst/>
                <a:latin typeface="Work Sans" pitchFamily="2" charset="77"/>
              </a:rPr>
              <a:t> function.</a:t>
            </a:r>
          </a:p>
          <a:p>
            <a:endParaRPr lang="en-US" dirty="0"/>
          </a:p>
        </p:txBody>
      </p:sp>
    </p:spTree>
    <p:extLst>
      <p:ext uri="{BB962C8B-B14F-4D97-AF65-F5344CB8AC3E}">
        <p14:creationId xmlns:p14="http://schemas.microsoft.com/office/powerpoint/2010/main" val="1647744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0460D-184E-618D-73E4-0C5FC15CA03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7F8909-27D0-5568-83B7-1A3D6A3C35B2}"/>
              </a:ext>
            </a:extLst>
          </p:cNvPr>
          <p:cNvSpPr>
            <a:spLocks noGrp="1"/>
          </p:cNvSpPr>
          <p:nvPr>
            <p:ph idx="1"/>
          </p:nvPr>
        </p:nvSpPr>
        <p:spPr/>
        <p:txBody>
          <a:bodyPr>
            <a:normAutofit fontScale="62500" lnSpcReduction="20000"/>
          </a:bodyPr>
          <a:lstStyle/>
          <a:p>
            <a:r>
              <a:rPr lang="en-US" dirty="0"/>
              <a:t>from bs4 import </a:t>
            </a:r>
            <a:r>
              <a:rPr lang="en-US" dirty="0" err="1"/>
              <a:t>BeautifulSoup</a:t>
            </a:r>
            <a:endParaRPr lang="en-US" dirty="0"/>
          </a:p>
          <a:p>
            <a:endParaRPr lang="en-US" dirty="0"/>
          </a:p>
          <a:p>
            <a:r>
              <a:rPr lang="en-US" dirty="0"/>
              <a:t># Sample HTML content</a:t>
            </a:r>
          </a:p>
          <a:p>
            <a:r>
              <a:rPr lang="en-US" dirty="0" err="1"/>
              <a:t>html_content</a:t>
            </a:r>
            <a:r>
              <a:rPr lang="en-US" dirty="0"/>
              <a:t> = '&lt;html&gt;&lt;head&gt;&lt;title&gt;Test Page&lt;/title&gt;&lt;/head&gt;&lt;body&gt;&lt;p class="message"&gt;Hello, World!&lt;/p&gt;&lt;/body&gt;&lt;/html&gt;'</a:t>
            </a:r>
          </a:p>
          <a:p>
            <a:r>
              <a:rPr lang="en-US" dirty="0"/>
              <a:t>soup = </a:t>
            </a:r>
            <a:r>
              <a:rPr lang="en-US" dirty="0" err="1"/>
              <a:t>BeautifulSoup</a:t>
            </a:r>
            <a:r>
              <a:rPr lang="en-US" dirty="0"/>
              <a:t>(</a:t>
            </a:r>
            <a:r>
              <a:rPr lang="en-US" dirty="0" err="1"/>
              <a:t>html_content</a:t>
            </a:r>
            <a:r>
              <a:rPr lang="en-US" dirty="0"/>
              <a:t>, '</a:t>
            </a:r>
            <a:r>
              <a:rPr lang="en-US" dirty="0" err="1"/>
              <a:t>html.parser</a:t>
            </a:r>
            <a:r>
              <a:rPr lang="en-US" dirty="0"/>
              <a:t>')</a:t>
            </a:r>
          </a:p>
          <a:p>
            <a:endParaRPr lang="en-US" dirty="0"/>
          </a:p>
          <a:p>
            <a:r>
              <a:rPr lang="en-US" dirty="0"/>
              <a:t># Find the title tag</a:t>
            </a:r>
          </a:p>
          <a:p>
            <a:r>
              <a:rPr lang="en-US" dirty="0"/>
              <a:t>title = </a:t>
            </a:r>
            <a:r>
              <a:rPr lang="en-US" dirty="0" err="1"/>
              <a:t>soup.find</a:t>
            </a:r>
            <a:r>
              <a:rPr lang="en-US" dirty="0"/>
              <a:t>('title').text</a:t>
            </a:r>
          </a:p>
          <a:p>
            <a:r>
              <a:rPr lang="en-US" dirty="0"/>
              <a:t>print(</a:t>
            </a:r>
            <a:r>
              <a:rPr lang="en-US" dirty="0" err="1"/>
              <a:t>f"Page</a:t>
            </a:r>
            <a:r>
              <a:rPr lang="en-US" dirty="0"/>
              <a:t> title: {title}")</a:t>
            </a:r>
          </a:p>
          <a:p>
            <a:r>
              <a:rPr lang="en-US" dirty="0"/>
              <a:t>find</a:t>
            </a:r>
            <a:r>
              <a:rPr lang="en-US" b="0" i="0" dirty="0">
                <a:solidFill>
                  <a:srgbClr val="2F3956"/>
                </a:solidFill>
                <a:effectLst/>
                <a:latin typeface="Work Sans" pitchFamily="2" charset="77"/>
              </a:rPr>
              <a:t> method on that </a:t>
            </a:r>
            <a:r>
              <a:rPr lang="en-US" dirty="0" err="1"/>
              <a:t>BeautifulSoup</a:t>
            </a:r>
            <a:r>
              <a:rPr lang="en-US" b="0" i="0" dirty="0">
                <a:solidFill>
                  <a:srgbClr val="2F3956"/>
                </a:solidFill>
                <a:effectLst/>
                <a:latin typeface="Work Sans" pitchFamily="2" charset="77"/>
              </a:rPr>
              <a:t> object to locate the tags we are interested in. In our case, we are looking for the </a:t>
            </a:r>
            <a:r>
              <a:rPr lang="en-US" dirty="0"/>
              <a:t>title</a:t>
            </a:r>
            <a:r>
              <a:rPr lang="en-US" b="0" i="0" dirty="0">
                <a:solidFill>
                  <a:srgbClr val="2F3956"/>
                </a:solidFill>
                <a:effectLst/>
                <a:latin typeface="Work Sans" pitchFamily="2" charset="77"/>
              </a:rPr>
              <a:t> tag. </a:t>
            </a:r>
          </a:p>
          <a:p>
            <a:r>
              <a:rPr lang="en-US" b="0" i="0" dirty="0">
                <a:solidFill>
                  <a:srgbClr val="2F3956"/>
                </a:solidFill>
                <a:effectLst/>
                <a:latin typeface="Work Sans" pitchFamily="2" charset="77"/>
              </a:rPr>
              <a:t>The </a:t>
            </a:r>
            <a:r>
              <a:rPr lang="en-US" dirty="0"/>
              <a:t>find</a:t>
            </a:r>
            <a:r>
              <a:rPr lang="en-US" b="0" i="0" dirty="0">
                <a:solidFill>
                  <a:srgbClr val="2F3956"/>
                </a:solidFill>
                <a:effectLst/>
                <a:latin typeface="Work Sans" pitchFamily="2" charset="77"/>
              </a:rPr>
              <a:t> method returns a Tag object, and we use the </a:t>
            </a:r>
            <a:r>
              <a:rPr lang="en-US" dirty="0"/>
              <a:t>.text</a:t>
            </a:r>
            <a:r>
              <a:rPr lang="en-US" b="0" i="0" dirty="0">
                <a:solidFill>
                  <a:srgbClr val="2F3956"/>
                </a:solidFill>
                <a:effectLst/>
                <a:latin typeface="Work Sans" pitchFamily="2" charset="77"/>
              </a:rPr>
              <a:t> attribute to access the text contents of the Tag. </a:t>
            </a:r>
            <a:endParaRPr lang="en-US" dirty="0"/>
          </a:p>
        </p:txBody>
      </p:sp>
    </p:spTree>
    <p:extLst>
      <p:ext uri="{BB962C8B-B14F-4D97-AF65-F5344CB8AC3E}">
        <p14:creationId xmlns:p14="http://schemas.microsoft.com/office/powerpoint/2010/main" val="1930726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8A970-C319-EE91-3D41-4C4E85D084D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37C91D0-838E-0569-F1D9-9C31F3EB8BE9}"/>
              </a:ext>
            </a:extLst>
          </p:cNvPr>
          <p:cNvSpPr>
            <a:spLocks noGrp="1"/>
          </p:cNvSpPr>
          <p:nvPr>
            <p:ph idx="1"/>
          </p:nvPr>
        </p:nvSpPr>
        <p:spPr/>
        <p:txBody>
          <a:bodyPr>
            <a:normAutofit fontScale="62500" lnSpcReduction="20000"/>
          </a:bodyPr>
          <a:lstStyle/>
          <a:p>
            <a:pPr marL="0" indent="0">
              <a:buNone/>
            </a:pPr>
            <a:r>
              <a:rPr lang="en-US" b="0" dirty="0">
                <a:solidFill>
                  <a:srgbClr val="B513DE"/>
                </a:solidFill>
                <a:effectLst/>
                <a:latin typeface="Menlo" panose="020B0609030804020204" pitchFamily="49" charset="0"/>
              </a:rPr>
              <a:t>from</a:t>
            </a:r>
            <a:r>
              <a:rPr lang="en-US" b="0" dirty="0">
                <a:solidFill>
                  <a:srgbClr val="000000"/>
                </a:solidFill>
                <a:effectLst/>
                <a:latin typeface="Menlo" panose="020B0609030804020204" pitchFamily="49" charset="0"/>
              </a:rPr>
              <a:t> </a:t>
            </a:r>
            <a:r>
              <a:rPr lang="en-US" b="0" dirty="0">
                <a:solidFill>
                  <a:srgbClr val="061783"/>
                </a:solidFill>
                <a:effectLst/>
                <a:latin typeface="Menlo" panose="020B0609030804020204" pitchFamily="49" charset="0"/>
              </a:rPr>
              <a:t>bs4</a:t>
            </a:r>
            <a:r>
              <a:rPr lang="en-US" b="0" dirty="0">
                <a:solidFill>
                  <a:srgbClr val="000000"/>
                </a:solidFill>
                <a:effectLst/>
                <a:latin typeface="Menlo" panose="020B0609030804020204" pitchFamily="49" charset="0"/>
              </a:rPr>
              <a:t> </a:t>
            </a:r>
            <a:r>
              <a:rPr lang="en-US" b="0" dirty="0">
                <a:solidFill>
                  <a:srgbClr val="B513DE"/>
                </a:solidFill>
                <a:effectLst/>
                <a:latin typeface="Menlo" panose="020B0609030804020204" pitchFamily="49" charset="0"/>
              </a:rPr>
              <a:t>import</a:t>
            </a:r>
            <a:r>
              <a:rPr lang="en-US" b="0" dirty="0">
                <a:solidFill>
                  <a:srgbClr val="000000"/>
                </a:solidFill>
                <a:effectLst/>
                <a:latin typeface="Menlo" panose="020B0609030804020204" pitchFamily="49" charset="0"/>
              </a:rPr>
              <a:t> </a:t>
            </a:r>
            <a:r>
              <a:rPr lang="en-US" b="0" dirty="0" err="1">
                <a:solidFill>
                  <a:srgbClr val="061783"/>
                </a:solidFill>
                <a:effectLst/>
                <a:latin typeface="Menlo" panose="020B0609030804020204" pitchFamily="49" charset="0"/>
              </a:rPr>
              <a:t>BeautifulSoup</a:t>
            </a:r>
            <a:endParaRPr lang="en-US" b="0" dirty="0">
              <a:solidFill>
                <a:srgbClr val="000000"/>
              </a:solidFill>
              <a:effectLst/>
              <a:latin typeface="Menlo" panose="020B0609030804020204" pitchFamily="49" charset="0"/>
            </a:endParaRPr>
          </a:p>
          <a:p>
            <a:pPr marL="0" indent="0">
              <a:buNone/>
            </a:pPr>
            <a:br>
              <a:rPr lang="en-US" b="0" dirty="0">
                <a:solidFill>
                  <a:srgbClr val="000000"/>
                </a:solidFill>
                <a:effectLst/>
                <a:latin typeface="Menlo" panose="020B0609030804020204" pitchFamily="49" charset="0"/>
              </a:rPr>
            </a:br>
            <a:r>
              <a:rPr lang="en-US" b="0" dirty="0">
                <a:solidFill>
                  <a:srgbClr val="60B060"/>
                </a:solidFill>
                <a:effectLst/>
                <a:latin typeface="Menlo" panose="020B0609030804020204" pitchFamily="49" charset="0"/>
              </a:rPr>
              <a:t># Simplified HTML content from a travel agency website</a:t>
            </a:r>
            <a:endParaRPr lang="en-US" b="0" dirty="0">
              <a:solidFill>
                <a:srgbClr val="000000"/>
              </a:solidFill>
              <a:effectLst/>
              <a:latin typeface="Menlo" panose="020B0609030804020204" pitchFamily="49" charset="0"/>
            </a:endParaRPr>
          </a:p>
          <a:p>
            <a:pPr marL="0" indent="0">
              <a:buNone/>
            </a:pPr>
            <a:r>
              <a:rPr lang="en-US" b="0" dirty="0" err="1">
                <a:solidFill>
                  <a:srgbClr val="061783"/>
                </a:solidFill>
                <a:effectLst/>
                <a:latin typeface="Menlo" panose="020B0609030804020204" pitchFamily="49" charset="0"/>
              </a:rPr>
              <a:t>html_content</a:t>
            </a:r>
            <a:r>
              <a:rPr lang="en-US" b="0" dirty="0">
                <a:solidFill>
                  <a:srgbClr val="000000"/>
                </a:solidFill>
                <a:effectLst/>
                <a:latin typeface="Menlo" panose="020B0609030804020204" pitchFamily="49" charset="0"/>
              </a:rPr>
              <a:t> </a:t>
            </a:r>
            <a:r>
              <a:rPr lang="en-US" b="0" dirty="0">
                <a:solidFill>
                  <a:srgbClr val="0A0A0A"/>
                </a:solidFill>
                <a:effectLst/>
                <a:latin typeface="Menlo" panose="020B0609030804020204" pitchFamily="49" charset="0"/>
              </a:rPr>
              <a:t>=</a:t>
            </a:r>
            <a:r>
              <a:rPr lang="en-US" b="0" dirty="0">
                <a:solidFill>
                  <a:srgbClr val="000000"/>
                </a:solidFill>
                <a:effectLst/>
                <a:latin typeface="Menlo" panose="020B0609030804020204" pitchFamily="49" charset="0"/>
              </a:rPr>
              <a:t> </a:t>
            </a:r>
            <a:r>
              <a:rPr lang="en-US" b="0" dirty="0">
                <a:solidFill>
                  <a:srgbClr val="AE3131"/>
                </a:solidFill>
                <a:effectLst/>
                <a:latin typeface="Menlo" panose="020B0609030804020204" pitchFamily="49" charset="0"/>
              </a:rPr>
              <a:t>'&lt;div&gt;&lt;h1&gt;Welcome to the Amazing Travel Agency!&lt;/h1&gt;&lt;p&gt;Plan your next adventure with us.&lt;/p&gt;&lt;/div&gt;'</a:t>
            </a:r>
            <a:endParaRPr lang="en-US" b="0" dirty="0">
              <a:solidFill>
                <a:srgbClr val="000000"/>
              </a:solidFill>
              <a:effectLst/>
              <a:latin typeface="Menlo" panose="020B0609030804020204" pitchFamily="49" charset="0"/>
            </a:endParaRPr>
          </a:p>
          <a:p>
            <a:pPr marL="0" indent="0">
              <a:buNone/>
            </a:pPr>
            <a:r>
              <a:rPr lang="en-US" b="0" dirty="0">
                <a:solidFill>
                  <a:srgbClr val="061783"/>
                </a:solidFill>
                <a:effectLst/>
                <a:latin typeface="Menlo" panose="020B0609030804020204" pitchFamily="49" charset="0"/>
              </a:rPr>
              <a:t>soup</a:t>
            </a:r>
            <a:r>
              <a:rPr lang="en-US" b="0" dirty="0">
                <a:solidFill>
                  <a:srgbClr val="000000"/>
                </a:solidFill>
                <a:effectLst/>
                <a:latin typeface="Menlo" panose="020B0609030804020204" pitchFamily="49" charset="0"/>
              </a:rPr>
              <a:t> </a:t>
            </a:r>
            <a:r>
              <a:rPr lang="en-US" b="0" dirty="0">
                <a:solidFill>
                  <a:srgbClr val="0A0A0A"/>
                </a:solidFill>
                <a:effectLst/>
                <a:latin typeface="Menlo" panose="020B0609030804020204" pitchFamily="49" charset="0"/>
              </a:rPr>
              <a:t>=</a:t>
            </a:r>
            <a:r>
              <a:rPr lang="en-US" b="0" dirty="0">
                <a:solidFill>
                  <a:srgbClr val="000000"/>
                </a:solidFill>
                <a:effectLst/>
                <a:latin typeface="Menlo" panose="020B0609030804020204" pitchFamily="49" charset="0"/>
              </a:rPr>
              <a:t> </a:t>
            </a:r>
            <a:r>
              <a:rPr lang="en-US" b="0" dirty="0" err="1">
                <a:solidFill>
                  <a:srgbClr val="061783"/>
                </a:solidFill>
                <a:effectLst/>
                <a:latin typeface="Menlo" panose="020B0609030804020204" pitchFamily="49" charset="0"/>
              </a:rPr>
              <a:t>BeautifulSoup</a:t>
            </a:r>
            <a:r>
              <a:rPr lang="en-US" b="0" dirty="0">
                <a:solidFill>
                  <a:srgbClr val="000000"/>
                </a:solidFill>
                <a:effectLst/>
                <a:latin typeface="Menlo" panose="020B0609030804020204" pitchFamily="49" charset="0"/>
              </a:rPr>
              <a:t>(</a:t>
            </a:r>
            <a:r>
              <a:rPr lang="en-US" b="0" dirty="0" err="1">
                <a:solidFill>
                  <a:srgbClr val="061783"/>
                </a:solidFill>
                <a:effectLst/>
                <a:latin typeface="Menlo" panose="020B0609030804020204" pitchFamily="49" charset="0"/>
              </a:rPr>
              <a:t>html_content</a:t>
            </a:r>
            <a:r>
              <a:rPr lang="en-US" b="0" dirty="0">
                <a:solidFill>
                  <a:srgbClr val="000000"/>
                </a:solidFill>
                <a:effectLst/>
                <a:latin typeface="Menlo" panose="020B0609030804020204" pitchFamily="49" charset="0"/>
              </a:rPr>
              <a:t>, </a:t>
            </a:r>
            <a:r>
              <a:rPr lang="en-US" b="0" dirty="0">
                <a:solidFill>
                  <a:srgbClr val="AE3131"/>
                </a:solidFill>
                <a:effectLst/>
                <a:latin typeface="Menlo" panose="020B0609030804020204" pitchFamily="49" charset="0"/>
              </a:rPr>
              <a:t>'</a:t>
            </a:r>
            <a:r>
              <a:rPr lang="en-US" b="0" dirty="0" err="1">
                <a:solidFill>
                  <a:srgbClr val="AE3131"/>
                </a:solidFill>
                <a:effectLst/>
                <a:latin typeface="Menlo" panose="020B0609030804020204" pitchFamily="49" charset="0"/>
              </a:rPr>
              <a:t>html.parser</a:t>
            </a:r>
            <a:r>
              <a:rPr lang="en-US" b="0" dirty="0">
                <a:solidFill>
                  <a:srgbClr val="AE3131"/>
                </a:solidFill>
                <a:effectLst/>
                <a:latin typeface="Menlo" panose="020B0609030804020204" pitchFamily="49" charset="0"/>
              </a:rPr>
              <a:t>'</a:t>
            </a:r>
            <a:r>
              <a:rPr lang="en-US" b="0" dirty="0">
                <a:solidFill>
                  <a:srgbClr val="000000"/>
                </a:solidFill>
                <a:effectLst/>
                <a:latin typeface="Menlo" panose="020B0609030804020204" pitchFamily="49" charset="0"/>
              </a:rPr>
              <a:t>)</a:t>
            </a:r>
          </a:p>
          <a:p>
            <a:pPr marL="0" indent="0">
              <a:buNone/>
            </a:pPr>
            <a:br>
              <a:rPr lang="en-US" b="0" dirty="0">
                <a:solidFill>
                  <a:srgbClr val="000000"/>
                </a:solidFill>
                <a:effectLst/>
                <a:latin typeface="Menlo" panose="020B0609030804020204" pitchFamily="49" charset="0"/>
              </a:rPr>
            </a:br>
            <a:r>
              <a:rPr lang="en-US" b="0" dirty="0">
                <a:solidFill>
                  <a:srgbClr val="60B060"/>
                </a:solidFill>
                <a:effectLst/>
                <a:latin typeface="Menlo" panose="020B0609030804020204" pitchFamily="49" charset="0"/>
              </a:rPr>
              <a:t># Find the heading (h1) of the Travel Agency website</a:t>
            </a:r>
            <a:endParaRPr lang="en-US" b="0" dirty="0">
              <a:solidFill>
                <a:srgbClr val="000000"/>
              </a:solidFill>
              <a:effectLst/>
              <a:latin typeface="Menlo" panose="020B0609030804020204" pitchFamily="49" charset="0"/>
            </a:endParaRPr>
          </a:p>
          <a:p>
            <a:pPr marL="0" indent="0">
              <a:buNone/>
            </a:pPr>
            <a:r>
              <a:rPr lang="en-US" b="0" dirty="0">
                <a:solidFill>
                  <a:srgbClr val="061783"/>
                </a:solidFill>
                <a:effectLst/>
                <a:latin typeface="Menlo" panose="020B0609030804020204" pitchFamily="49" charset="0"/>
              </a:rPr>
              <a:t>heading</a:t>
            </a:r>
            <a:r>
              <a:rPr lang="en-US" b="0" dirty="0">
                <a:solidFill>
                  <a:srgbClr val="000000"/>
                </a:solidFill>
                <a:effectLst/>
                <a:latin typeface="Menlo" panose="020B0609030804020204" pitchFamily="49" charset="0"/>
              </a:rPr>
              <a:t> </a:t>
            </a:r>
            <a:r>
              <a:rPr lang="en-US" b="0" dirty="0">
                <a:solidFill>
                  <a:srgbClr val="0A0A0A"/>
                </a:solidFill>
                <a:effectLst/>
                <a:latin typeface="Menlo" panose="020B0609030804020204" pitchFamily="49" charset="0"/>
              </a:rPr>
              <a:t>=</a:t>
            </a:r>
            <a:r>
              <a:rPr lang="en-US" b="0" dirty="0">
                <a:solidFill>
                  <a:srgbClr val="000000"/>
                </a:solidFill>
                <a:effectLst/>
                <a:latin typeface="Menlo" panose="020B0609030804020204" pitchFamily="49" charset="0"/>
              </a:rPr>
              <a:t> </a:t>
            </a:r>
            <a:r>
              <a:rPr lang="en-US" b="0" dirty="0" err="1">
                <a:solidFill>
                  <a:srgbClr val="061783"/>
                </a:solidFill>
                <a:effectLst/>
                <a:latin typeface="Menlo" panose="020B0609030804020204" pitchFamily="49" charset="0"/>
              </a:rPr>
              <a:t>soup</a:t>
            </a:r>
            <a:r>
              <a:rPr lang="en-US" b="0" dirty="0" err="1">
                <a:solidFill>
                  <a:srgbClr val="000000"/>
                </a:solidFill>
                <a:effectLst/>
                <a:latin typeface="Menlo" panose="020B0609030804020204" pitchFamily="49" charset="0"/>
              </a:rPr>
              <a:t>.find</a:t>
            </a:r>
            <a:r>
              <a:rPr lang="en-US" b="0" dirty="0">
                <a:solidFill>
                  <a:srgbClr val="000000"/>
                </a:solidFill>
                <a:effectLst/>
                <a:latin typeface="Menlo" panose="020B0609030804020204" pitchFamily="49" charset="0"/>
              </a:rPr>
              <a:t>(</a:t>
            </a:r>
            <a:r>
              <a:rPr lang="en-US" b="0" dirty="0">
                <a:solidFill>
                  <a:srgbClr val="AE3131"/>
                </a:solidFill>
                <a:effectLst/>
                <a:latin typeface="Menlo" panose="020B0609030804020204" pitchFamily="49" charset="0"/>
              </a:rPr>
              <a:t>'h1'</a:t>
            </a:r>
            <a:r>
              <a:rPr lang="en-US" b="0" dirty="0">
                <a:solidFill>
                  <a:srgbClr val="000000"/>
                </a:solidFill>
                <a:effectLst/>
                <a:latin typeface="Menlo" panose="020B0609030804020204" pitchFamily="49" charset="0"/>
              </a:rPr>
              <a:t>).text</a:t>
            </a:r>
          </a:p>
          <a:p>
            <a:pPr marL="0" indent="0">
              <a:buNone/>
            </a:pPr>
            <a:r>
              <a:rPr lang="en-US" b="0" dirty="0">
                <a:solidFill>
                  <a:srgbClr val="B513DE"/>
                </a:solidFill>
                <a:effectLst/>
                <a:latin typeface="Menlo" panose="020B0609030804020204" pitchFamily="49" charset="0"/>
              </a:rPr>
              <a:t>print</a:t>
            </a:r>
            <a:r>
              <a:rPr lang="en-US" b="0" dirty="0">
                <a:solidFill>
                  <a:srgbClr val="000000"/>
                </a:solidFill>
                <a:effectLst/>
                <a:latin typeface="Menlo" panose="020B0609030804020204" pitchFamily="49" charset="0"/>
              </a:rPr>
              <a:t>(</a:t>
            </a:r>
            <a:r>
              <a:rPr lang="en-US" b="0" dirty="0" err="1">
                <a:solidFill>
                  <a:srgbClr val="AE3131"/>
                </a:solidFill>
                <a:effectLst/>
                <a:latin typeface="Menlo" panose="020B0609030804020204" pitchFamily="49" charset="0"/>
              </a:rPr>
              <a:t>f"Travel</a:t>
            </a:r>
            <a:r>
              <a:rPr lang="en-US" b="0" dirty="0">
                <a:solidFill>
                  <a:srgbClr val="AE3131"/>
                </a:solidFill>
                <a:effectLst/>
                <a:latin typeface="Menlo" panose="020B0609030804020204" pitchFamily="49" charset="0"/>
              </a:rPr>
              <a:t> Agency Heading: </a:t>
            </a:r>
            <a:r>
              <a:rPr lang="en-US" b="0" dirty="0">
                <a:solidFill>
                  <a:srgbClr val="000000"/>
                </a:solidFill>
                <a:effectLst/>
                <a:latin typeface="Menlo" panose="020B0609030804020204" pitchFamily="49" charset="0"/>
              </a:rPr>
              <a:t>{</a:t>
            </a:r>
            <a:r>
              <a:rPr lang="en-US" b="0" dirty="0">
                <a:solidFill>
                  <a:srgbClr val="061783"/>
                </a:solidFill>
                <a:effectLst/>
                <a:latin typeface="Menlo" panose="020B0609030804020204" pitchFamily="49" charset="0"/>
              </a:rPr>
              <a:t>heading</a:t>
            </a:r>
            <a:r>
              <a:rPr lang="en-US" b="0" dirty="0">
                <a:solidFill>
                  <a:srgbClr val="000000"/>
                </a:solidFill>
                <a:effectLst/>
                <a:latin typeface="Menlo" panose="020B0609030804020204" pitchFamily="49" charset="0"/>
              </a:rPr>
              <a:t>}</a:t>
            </a:r>
            <a:r>
              <a:rPr lang="en-US" b="0" dirty="0">
                <a:solidFill>
                  <a:srgbClr val="AE3131"/>
                </a:solidFill>
                <a:effectLst/>
                <a:latin typeface="Menlo" panose="020B0609030804020204" pitchFamily="49" charset="0"/>
              </a:rPr>
              <a:t>"</a:t>
            </a:r>
            <a:r>
              <a:rPr lang="en-US" b="0" dirty="0">
                <a:solidFill>
                  <a:srgbClr val="000000"/>
                </a:solidFill>
                <a:effectLst/>
                <a:latin typeface="Menlo" panose="020B0609030804020204" pitchFamily="49" charset="0"/>
              </a:rPr>
              <a:t>)</a:t>
            </a:r>
          </a:p>
          <a:p>
            <a:pPr marL="0" indent="0">
              <a:buNone/>
            </a:pPr>
            <a:endParaRPr lang="en-US" b="0" dirty="0">
              <a:solidFill>
                <a:srgbClr val="000000"/>
              </a:solidFill>
              <a:effectLst/>
              <a:latin typeface="Menlo" panose="020B0609030804020204" pitchFamily="49" charset="0"/>
            </a:endParaRPr>
          </a:p>
          <a:p>
            <a:pPr marL="0" indent="0">
              <a:buNone/>
            </a:pPr>
            <a:endParaRPr lang="en-US" dirty="0">
              <a:solidFill>
                <a:srgbClr val="000000"/>
              </a:solidFill>
              <a:latin typeface="Menlo" panose="020B0609030804020204" pitchFamily="49" charset="0"/>
            </a:endParaRPr>
          </a:p>
          <a:p>
            <a:pPr marL="0" indent="0">
              <a:buNone/>
            </a:pPr>
            <a:endParaRPr lang="en-US" b="0" dirty="0">
              <a:solidFill>
                <a:srgbClr val="000000"/>
              </a:solidFill>
              <a:effectLst/>
              <a:latin typeface="Menlo" panose="020B0609030804020204" pitchFamily="49" charset="0"/>
            </a:endParaRPr>
          </a:p>
          <a:p>
            <a:pPr marL="0" indent="0">
              <a:buNone/>
            </a:pPr>
            <a:r>
              <a:rPr lang="en-US" dirty="0"/>
              <a:t>Travel Agency Heading: Welcome to the Amazing Travel Agency!</a:t>
            </a:r>
          </a:p>
        </p:txBody>
      </p:sp>
    </p:spTree>
    <p:extLst>
      <p:ext uri="{BB962C8B-B14F-4D97-AF65-F5344CB8AC3E}">
        <p14:creationId xmlns:p14="http://schemas.microsoft.com/office/powerpoint/2010/main" val="29522825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C5DE1-F633-5920-DB0C-1DCDD76C9E2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6A86E95-6D6B-F513-B711-A7DBD668F10C}"/>
              </a:ext>
            </a:extLst>
          </p:cNvPr>
          <p:cNvSpPr>
            <a:spLocks noGrp="1"/>
          </p:cNvSpPr>
          <p:nvPr>
            <p:ph idx="1"/>
          </p:nvPr>
        </p:nvSpPr>
        <p:spPr/>
        <p:txBody>
          <a:bodyPr>
            <a:normAutofit fontScale="70000" lnSpcReduction="20000"/>
          </a:bodyPr>
          <a:lstStyle/>
          <a:p>
            <a:r>
              <a:rPr lang="en-US" b="0" dirty="0">
                <a:solidFill>
                  <a:srgbClr val="B513DE"/>
                </a:solidFill>
                <a:effectLst/>
                <a:latin typeface="Menlo" panose="020B0609030804020204" pitchFamily="49" charset="0"/>
              </a:rPr>
              <a:t>from</a:t>
            </a:r>
            <a:r>
              <a:rPr lang="en-US" b="0" dirty="0">
                <a:solidFill>
                  <a:srgbClr val="000000"/>
                </a:solidFill>
                <a:effectLst/>
                <a:latin typeface="Menlo" panose="020B0609030804020204" pitchFamily="49" charset="0"/>
              </a:rPr>
              <a:t> </a:t>
            </a:r>
            <a:r>
              <a:rPr lang="en-US" b="0" dirty="0">
                <a:solidFill>
                  <a:srgbClr val="061783"/>
                </a:solidFill>
                <a:effectLst/>
                <a:latin typeface="Menlo" panose="020B0609030804020204" pitchFamily="49" charset="0"/>
              </a:rPr>
              <a:t>bs4</a:t>
            </a:r>
            <a:r>
              <a:rPr lang="en-US" b="0" dirty="0">
                <a:solidFill>
                  <a:srgbClr val="000000"/>
                </a:solidFill>
                <a:effectLst/>
                <a:latin typeface="Menlo" panose="020B0609030804020204" pitchFamily="49" charset="0"/>
              </a:rPr>
              <a:t> </a:t>
            </a:r>
            <a:r>
              <a:rPr lang="en-US" b="0" dirty="0">
                <a:solidFill>
                  <a:srgbClr val="B513DE"/>
                </a:solidFill>
                <a:effectLst/>
                <a:latin typeface="Menlo" panose="020B0609030804020204" pitchFamily="49" charset="0"/>
              </a:rPr>
              <a:t>import</a:t>
            </a:r>
            <a:r>
              <a:rPr lang="en-US" b="0" dirty="0">
                <a:solidFill>
                  <a:srgbClr val="000000"/>
                </a:solidFill>
                <a:effectLst/>
                <a:latin typeface="Menlo" panose="020B0609030804020204" pitchFamily="49" charset="0"/>
              </a:rPr>
              <a:t> </a:t>
            </a:r>
            <a:r>
              <a:rPr lang="en-US" b="0" dirty="0" err="1">
                <a:solidFill>
                  <a:srgbClr val="061783"/>
                </a:solidFill>
                <a:effectLst/>
                <a:latin typeface="Menlo" panose="020B0609030804020204" pitchFamily="49" charset="0"/>
              </a:rPr>
              <a:t>BeautifulSoup</a:t>
            </a:r>
            <a:endParaRPr lang="en-US" b="0" dirty="0">
              <a:solidFill>
                <a:srgbClr val="000000"/>
              </a:solidFill>
              <a:effectLst/>
              <a:latin typeface="Menlo" panose="020B0609030804020204" pitchFamily="49" charset="0"/>
            </a:endParaRPr>
          </a:p>
          <a:p>
            <a:br>
              <a:rPr lang="en-US" b="0" dirty="0">
                <a:solidFill>
                  <a:srgbClr val="000000"/>
                </a:solidFill>
                <a:effectLst/>
                <a:latin typeface="Menlo" panose="020B0609030804020204" pitchFamily="49" charset="0"/>
              </a:rPr>
            </a:br>
            <a:r>
              <a:rPr lang="en-US" b="0" dirty="0">
                <a:solidFill>
                  <a:srgbClr val="60B060"/>
                </a:solidFill>
                <a:effectLst/>
                <a:latin typeface="Menlo" panose="020B0609030804020204" pitchFamily="49" charset="0"/>
              </a:rPr>
              <a:t># Simulate an HTML content from a Travel Agency website</a:t>
            </a:r>
            <a:endParaRPr lang="en-US" b="0" dirty="0">
              <a:solidFill>
                <a:srgbClr val="000000"/>
              </a:solidFill>
              <a:effectLst/>
              <a:latin typeface="Menlo" panose="020B0609030804020204" pitchFamily="49" charset="0"/>
            </a:endParaRPr>
          </a:p>
          <a:p>
            <a:r>
              <a:rPr lang="en-US" b="0" dirty="0" err="1">
                <a:solidFill>
                  <a:srgbClr val="061783"/>
                </a:solidFill>
                <a:effectLst/>
                <a:latin typeface="Menlo" panose="020B0609030804020204" pitchFamily="49" charset="0"/>
              </a:rPr>
              <a:t>html_content</a:t>
            </a:r>
            <a:r>
              <a:rPr lang="en-US" b="0" dirty="0">
                <a:solidFill>
                  <a:srgbClr val="000000"/>
                </a:solidFill>
                <a:effectLst/>
                <a:latin typeface="Menlo" panose="020B0609030804020204" pitchFamily="49" charset="0"/>
              </a:rPr>
              <a:t> </a:t>
            </a:r>
            <a:r>
              <a:rPr lang="en-US" b="0" dirty="0">
                <a:solidFill>
                  <a:srgbClr val="0A0A0A"/>
                </a:solidFill>
                <a:effectLst/>
                <a:latin typeface="Menlo" panose="020B0609030804020204" pitchFamily="49" charset="0"/>
              </a:rPr>
              <a:t>=</a:t>
            </a:r>
            <a:r>
              <a:rPr lang="en-US" b="0" dirty="0">
                <a:solidFill>
                  <a:srgbClr val="000000"/>
                </a:solidFill>
                <a:effectLst/>
                <a:latin typeface="Menlo" panose="020B0609030804020204" pitchFamily="49" charset="0"/>
              </a:rPr>
              <a:t> </a:t>
            </a:r>
            <a:r>
              <a:rPr lang="en-US" b="0" dirty="0">
                <a:solidFill>
                  <a:srgbClr val="AE3131"/>
                </a:solidFill>
                <a:effectLst/>
                <a:latin typeface="Menlo" panose="020B0609030804020204" pitchFamily="49" charset="0"/>
              </a:rPr>
              <a:t>'&lt;div&gt;&lt;h1&gt;Welcome to the Best Travel Agency!&lt;/h1&gt;&lt;p&gt;Explore the world with us.&lt;/p&gt;&lt;/div&gt;'</a:t>
            </a:r>
            <a:endParaRPr lang="en-US" b="0" dirty="0">
              <a:solidFill>
                <a:srgbClr val="000000"/>
              </a:solidFill>
              <a:effectLst/>
              <a:latin typeface="Menlo" panose="020B0609030804020204" pitchFamily="49" charset="0"/>
            </a:endParaRPr>
          </a:p>
          <a:p>
            <a:r>
              <a:rPr lang="en-US" b="0" dirty="0">
                <a:solidFill>
                  <a:srgbClr val="061783"/>
                </a:solidFill>
                <a:effectLst/>
                <a:latin typeface="Menlo" panose="020B0609030804020204" pitchFamily="49" charset="0"/>
              </a:rPr>
              <a:t>soup</a:t>
            </a:r>
            <a:r>
              <a:rPr lang="en-US" b="0" dirty="0">
                <a:solidFill>
                  <a:srgbClr val="000000"/>
                </a:solidFill>
                <a:effectLst/>
                <a:latin typeface="Menlo" panose="020B0609030804020204" pitchFamily="49" charset="0"/>
              </a:rPr>
              <a:t> </a:t>
            </a:r>
            <a:r>
              <a:rPr lang="en-US" b="0" dirty="0">
                <a:solidFill>
                  <a:srgbClr val="0A0A0A"/>
                </a:solidFill>
                <a:effectLst/>
                <a:latin typeface="Menlo" panose="020B0609030804020204" pitchFamily="49" charset="0"/>
              </a:rPr>
              <a:t>=</a:t>
            </a:r>
            <a:r>
              <a:rPr lang="en-US" b="0" dirty="0">
                <a:solidFill>
                  <a:srgbClr val="000000"/>
                </a:solidFill>
                <a:effectLst/>
                <a:latin typeface="Menlo" panose="020B0609030804020204" pitchFamily="49" charset="0"/>
              </a:rPr>
              <a:t> </a:t>
            </a:r>
            <a:r>
              <a:rPr lang="en-US" b="0" dirty="0" err="1">
                <a:solidFill>
                  <a:srgbClr val="061783"/>
                </a:solidFill>
                <a:effectLst/>
                <a:latin typeface="Menlo" panose="020B0609030804020204" pitchFamily="49" charset="0"/>
              </a:rPr>
              <a:t>BeautifulSoup</a:t>
            </a:r>
            <a:r>
              <a:rPr lang="en-US" b="0" dirty="0">
                <a:solidFill>
                  <a:srgbClr val="000000"/>
                </a:solidFill>
                <a:effectLst/>
                <a:latin typeface="Menlo" panose="020B0609030804020204" pitchFamily="49" charset="0"/>
              </a:rPr>
              <a:t>(</a:t>
            </a:r>
            <a:r>
              <a:rPr lang="en-US" b="0" dirty="0" err="1">
                <a:solidFill>
                  <a:srgbClr val="061783"/>
                </a:solidFill>
                <a:effectLst/>
                <a:latin typeface="Menlo" panose="020B0609030804020204" pitchFamily="49" charset="0"/>
              </a:rPr>
              <a:t>html_content</a:t>
            </a:r>
            <a:r>
              <a:rPr lang="en-US" b="0" dirty="0">
                <a:solidFill>
                  <a:srgbClr val="000000"/>
                </a:solidFill>
                <a:effectLst/>
                <a:latin typeface="Menlo" panose="020B0609030804020204" pitchFamily="49" charset="0"/>
              </a:rPr>
              <a:t>, </a:t>
            </a:r>
            <a:r>
              <a:rPr lang="en-US" b="0" dirty="0">
                <a:solidFill>
                  <a:srgbClr val="AE3131"/>
                </a:solidFill>
                <a:effectLst/>
                <a:latin typeface="Menlo" panose="020B0609030804020204" pitchFamily="49" charset="0"/>
              </a:rPr>
              <a:t>'</a:t>
            </a:r>
            <a:r>
              <a:rPr lang="en-US" b="0" dirty="0" err="1">
                <a:solidFill>
                  <a:srgbClr val="AE3131"/>
                </a:solidFill>
                <a:effectLst/>
                <a:latin typeface="Menlo" panose="020B0609030804020204" pitchFamily="49" charset="0"/>
              </a:rPr>
              <a:t>html.parser</a:t>
            </a:r>
            <a:r>
              <a:rPr lang="en-US" b="0" dirty="0">
                <a:solidFill>
                  <a:srgbClr val="AE3131"/>
                </a:solidFill>
                <a:effectLst/>
                <a:latin typeface="Menlo" panose="020B0609030804020204" pitchFamily="49" charset="0"/>
              </a:rPr>
              <a:t>'</a:t>
            </a:r>
            <a:r>
              <a:rPr lang="en-US" b="0" dirty="0">
                <a:solidFill>
                  <a:srgbClr val="000000"/>
                </a:solidFill>
                <a:effectLst/>
                <a:latin typeface="Menlo" panose="020B0609030804020204" pitchFamily="49" charset="0"/>
              </a:rPr>
              <a:t>)</a:t>
            </a:r>
          </a:p>
          <a:p>
            <a:br>
              <a:rPr lang="en-US" b="0" dirty="0">
                <a:solidFill>
                  <a:srgbClr val="000000"/>
                </a:solidFill>
                <a:effectLst/>
                <a:latin typeface="Menlo" panose="020B0609030804020204" pitchFamily="49" charset="0"/>
              </a:rPr>
            </a:br>
            <a:r>
              <a:rPr lang="en-US" b="0" dirty="0">
                <a:solidFill>
                  <a:srgbClr val="60B060"/>
                </a:solidFill>
                <a:effectLst/>
                <a:latin typeface="Menlo" panose="020B0609030804020204" pitchFamily="49" charset="0"/>
              </a:rPr>
              <a:t># TODO: Print the introductory message found in the first paragraph `&lt;p&gt;` tag</a:t>
            </a:r>
            <a:endParaRPr lang="en-US" b="0" dirty="0">
              <a:solidFill>
                <a:srgbClr val="000000"/>
              </a:solidFill>
              <a:effectLst/>
              <a:latin typeface="Menlo" panose="020B0609030804020204" pitchFamily="49" charset="0"/>
            </a:endParaRPr>
          </a:p>
          <a:p>
            <a:r>
              <a:rPr lang="en-US" b="0" dirty="0" err="1">
                <a:solidFill>
                  <a:srgbClr val="061783"/>
                </a:solidFill>
                <a:effectLst/>
                <a:latin typeface="Menlo" panose="020B0609030804020204" pitchFamily="49" charset="0"/>
              </a:rPr>
              <a:t>agency_name</a:t>
            </a:r>
            <a:r>
              <a:rPr lang="en-US" b="0" dirty="0">
                <a:solidFill>
                  <a:srgbClr val="000000"/>
                </a:solidFill>
                <a:effectLst/>
                <a:latin typeface="Menlo" panose="020B0609030804020204" pitchFamily="49" charset="0"/>
              </a:rPr>
              <a:t> </a:t>
            </a:r>
            <a:r>
              <a:rPr lang="en-US" b="0" dirty="0">
                <a:solidFill>
                  <a:srgbClr val="0A0A0A"/>
                </a:solidFill>
                <a:effectLst/>
                <a:latin typeface="Menlo" panose="020B0609030804020204" pitchFamily="49" charset="0"/>
              </a:rPr>
              <a:t>=</a:t>
            </a:r>
            <a:r>
              <a:rPr lang="en-US" b="0" dirty="0">
                <a:solidFill>
                  <a:srgbClr val="000000"/>
                </a:solidFill>
                <a:effectLst/>
                <a:latin typeface="Menlo" panose="020B0609030804020204" pitchFamily="49" charset="0"/>
              </a:rPr>
              <a:t> </a:t>
            </a:r>
            <a:r>
              <a:rPr lang="en-US" b="0" dirty="0" err="1">
                <a:solidFill>
                  <a:srgbClr val="061783"/>
                </a:solidFill>
                <a:effectLst/>
                <a:latin typeface="Menlo" panose="020B0609030804020204" pitchFamily="49" charset="0"/>
              </a:rPr>
              <a:t>soup</a:t>
            </a:r>
            <a:r>
              <a:rPr lang="en-US" b="0" dirty="0" err="1">
                <a:solidFill>
                  <a:srgbClr val="000000"/>
                </a:solidFill>
                <a:effectLst/>
                <a:latin typeface="Menlo" panose="020B0609030804020204" pitchFamily="49" charset="0"/>
              </a:rPr>
              <a:t>.find</a:t>
            </a:r>
            <a:r>
              <a:rPr lang="en-US" b="0" dirty="0">
                <a:solidFill>
                  <a:srgbClr val="000000"/>
                </a:solidFill>
                <a:effectLst/>
                <a:latin typeface="Menlo" panose="020B0609030804020204" pitchFamily="49" charset="0"/>
              </a:rPr>
              <a:t>(</a:t>
            </a:r>
            <a:r>
              <a:rPr lang="en-US" b="0" dirty="0">
                <a:solidFill>
                  <a:srgbClr val="AE3131"/>
                </a:solidFill>
                <a:effectLst/>
                <a:latin typeface="Menlo" panose="020B0609030804020204" pitchFamily="49" charset="0"/>
              </a:rPr>
              <a:t>'p'</a:t>
            </a:r>
            <a:r>
              <a:rPr lang="en-US" b="0" dirty="0">
                <a:solidFill>
                  <a:srgbClr val="000000"/>
                </a:solidFill>
                <a:effectLst/>
                <a:latin typeface="Menlo" panose="020B0609030804020204" pitchFamily="49" charset="0"/>
              </a:rPr>
              <a:t>).text</a:t>
            </a:r>
          </a:p>
          <a:p>
            <a:br>
              <a:rPr lang="en-US" b="0" dirty="0">
                <a:solidFill>
                  <a:srgbClr val="000000"/>
                </a:solidFill>
                <a:effectLst/>
                <a:latin typeface="Menlo" panose="020B0609030804020204" pitchFamily="49" charset="0"/>
              </a:rPr>
            </a:br>
            <a:r>
              <a:rPr lang="en-US" b="0" dirty="0">
                <a:solidFill>
                  <a:srgbClr val="60B060"/>
                </a:solidFill>
                <a:effectLst/>
                <a:latin typeface="Menlo" panose="020B0609030804020204" pitchFamily="49" charset="0"/>
              </a:rPr>
              <a:t># TODO: Remember to update the print message to 'Intro Message:' </a:t>
            </a:r>
            <a:endParaRPr lang="en-US" b="0" dirty="0">
              <a:solidFill>
                <a:srgbClr val="000000"/>
              </a:solidFill>
              <a:effectLst/>
              <a:latin typeface="Menlo" panose="020B0609030804020204" pitchFamily="49" charset="0"/>
            </a:endParaRPr>
          </a:p>
          <a:p>
            <a:r>
              <a:rPr lang="en-US" b="0" dirty="0">
                <a:solidFill>
                  <a:srgbClr val="B513DE"/>
                </a:solidFill>
                <a:effectLst/>
                <a:latin typeface="Menlo" panose="020B0609030804020204" pitchFamily="49" charset="0"/>
              </a:rPr>
              <a:t>print</a:t>
            </a:r>
            <a:r>
              <a:rPr lang="en-US" b="0" dirty="0">
                <a:solidFill>
                  <a:srgbClr val="000000"/>
                </a:solidFill>
                <a:effectLst/>
                <a:latin typeface="Menlo" panose="020B0609030804020204" pitchFamily="49" charset="0"/>
              </a:rPr>
              <a:t>(</a:t>
            </a:r>
            <a:r>
              <a:rPr lang="en-US" b="0" dirty="0" err="1">
                <a:solidFill>
                  <a:srgbClr val="AE3131"/>
                </a:solidFill>
                <a:effectLst/>
                <a:latin typeface="Menlo" panose="020B0609030804020204" pitchFamily="49" charset="0"/>
              </a:rPr>
              <a:t>f"Agency</a:t>
            </a:r>
            <a:r>
              <a:rPr lang="en-US" b="0" dirty="0">
                <a:solidFill>
                  <a:srgbClr val="AE3131"/>
                </a:solidFill>
                <a:effectLst/>
                <a:latin typeface="Menlo" panose="020B0609030804020204" pitchFamily="49" charset="0"/>
              </a:rPr>
              <a:t> Name: </a:t>
            </a:r>
            <a:r>
              <a:rPr lang="en-US" b="0" dirty="0">
                <a:solidFill>
                  <a:srgbClr val="000000"/>
                </a:solidFill>
                <a:effectLst/>
                <a:latin typeface="Menlo" panose="020B0609030804020204" pitchFamily="49" charset="0"/>
              </a:rPr>
              <a:t>{</a:t>
            </a:r>
            <a:r>
              <a:rPr lang="en-US" b="0" dirty="0" err="1">
                <a:solidFill>
                  <a:srgbClr val="061783"/>
                </a:solidFill>
                <a:effectLst/>
                <a:latin typeface="Menlo" panose="020B0609030804020204" pitchFamily="49" charset="0"/>
              </a:rPr>
              <a:t>agency_name</a:t>
            </a:r>
            <a:r>
              <a:rPr lang="en-US" b="0" dirty="0">
                <a:solidFill>
                  <a:srgbClr val="000000"/>
                </a:solidFill>
                <a:effectLst/>
                <a:latin typeface="Menlo" panose="020B0609030804020204" pitchFamily="49" charset="0"/>
              </a:rPr>
              <a:t>}</a:t>
            </a:r>
            <a:r>
              <a:rPr lang="en-US" b="0" dirty="0">
                <a:solidFill>
                  <a:srgbClr val="AE3131"/>
                </a:solidFill>
                <a:effectLst/>
                <a:latin typeface="Menlo" panose="020B0609030804020204" pitchFamily="49" charset="0"/>
              </a:rPr>
              <a:t>"</a:t>
            </a:r>
            <a:r>
              <a:rPr lang="en-US" b="0" dirty="0">
                <a:solidFill>
                  <a:srgbClr val="000000"/>
                </a:solidFill>
                <a:effectLst/>
                <a:latin typeface="Menlo" panose="020B0609030804020204" pitchFamily="49" charset="0"/>
              </a:rPr>
              <a:t>) </a:t>
            </a:r>
          </a:p>
          <a:p>
            <a:pPr marL="0" indent="0">
              <a:buNone/>
            </a:pPr>
            <a:r>
              <a:rPr lang="en-US" dirty="0"/>
              <a:t>Agency Name: Explore the world with us.</a:t>
            </a:r>
          </a:p>
        </p:txBody>
      </p:sp>
    </p:spTree>
    <p:extLst>
      <p:ext uri="{BB962C8B-B14F-4D97-AF65-F5344CB8AC3E}">
        <p14:creationId xmlns:p14="http://schemas.microsoft.com/office/powerpoint/2010/main" val="2088184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42368-82E0-D347-C948-C71AB7215B9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0A10B57-8F73-31E1-2897-EC6AC13A8295}"/>
              </a:ext>
            </a:extLst>
          </p:cNvPr>
          <p:cNvSpPr>
            <a:spLocks noGrp="1"/>
          </p:cNvSpPr>
          <p:nvPr>
            <p:ph idx="1"/>
          </p:nvPr>
        </p:nvSpPr>
        <p:spPr/>
        <p:txBody>
          <a:bodyPr>
            <a:normAutofit fontScale="77500" lnSpcReduction="20000"/>
          </a:bodyPr>
          <a:lstStyle/>
          <a:p>
            <a:r>
              <a:rPr lang="en-US" b="0" dirty="0">
                <a:solidFill>
                  <a:srgbClr val="B513DE"/>
                </a:solidFill>
                <a:effectLst/>
                <a:latin typeface="Menlo" panose="020B0609030804020204" pitchFamily="49" charset="0"/>
              </a:rPr>
              <a:t>from</a:t>
            </a:r>
            <a:r>
              <a:rPr lang="en-US" b="0" dirty="0">
                <a:solidFill>
                  <a:srgbClr val="000000"/>
                </a:solidFill>
                <a:effectLst/>
                <a:latin typeface="Menlo" panose="020B0609030804020204" pitchFamily="49" charset="0"/>
              </a:rPr>
              <a:t> </a:t>
            </a:r>
            <a:r>
              <a:rPr lang="en-US" b="0" dirty="0">
                <a:solidFill>
                  <a:srgbClr val="061783"/>
                </a:solidFill>
                <a:effectLst/>
                <a:latin typeface="Menlo" panose="020B0609030804020204" pitchFamily="49" charset="0"/>
              </a:rPr>
              <a:t>bs4</a:t>
            </a:r>
            <a:r>
              <a:rPr lang="en-US" b="0" dirty="0">
                <a:solidFill>
                  <a:srgbClr val="000000"/>
                </a:solidFill>
                <a:effectLst/>
                <a:latin typeface="Menlo" panose="020B0609030804020204" pitchFamily="49" charset="0"/>
              </a:rPr>
              <a:t> </a:t>
            </a:r>
            <a:r>
              <a:rPr lang="en-US" b="0" dirty="0">
                <a:solidFill>
                  <a:srgbClr val="B513DE"/>
                </a:solidFill>
                <a:effectLst/>
                <a:latin typeface="Menlo" panose="020B0609030804020204" pitchFamily="49" charset="0"/>
              </a:rPr>
              <a:t>import</a:t>
            </a:r>
            <a:r>
              <a:rPr lang="en-US" b="0" dirty="0">
                <a:solidFill>
                  <a:srgbClr val="000000"/>
                </a:solidFill>
                <a:effectLst/>
                <a:latin typeface="Menlo" panose="020B0609030804020204" pitchFamily="49" charset="0"/>
              </a:rPr>
              <a:t> </a:t>
            </a:r>
            <a:r>
              <a:rPr lang="en-US" b="0" dirty="0" err="1">
                <a:solidFill>
                  <a:srgbClr val="061783"/>
                </a:solidFill>
                <a:effectLst/>
                <a:latin typeface="Menlo" panose="020B0609030804020204" pitchFamily="49" charset="0"/>
              </a:rPr>
              <a:t>BeautifulSoup</a:t>
            </a:r>
            <a:endParaRPr lang="en-US" b="0" dirty="0">
              <a:solidFill>
                <a:srgbClr val="000000"/>
              </a:solidFill>
              <a:effectLst/>
              <a:latin typeface="Menlo" panose="020B0609030804020204" pitchFamily="49" charset="0"/>
            </a:endParaRPr>
          </a:p>
          <a:p>
            <a:br>
              <a:rPr lang="en-US" b="0" dirty="0">
                <a:solidFill>
                  <a:srgbClr val="000000"/>
                </a:solidFill>
                <a:effectLst/>
                <a:latin typeface="Menlo" panose="020B0609030804020204" pitchFamily="49" charset="0"/>
              </a:rPr>
            </a:br>
            <a:r>
              <a:rPr lang="en-US" b="0" dirty="0">
                <a:solidFill>
                  <a:srgbClr val="60B060"/>
                </a:solidFill>
                <a:effectLst/>
                <a:latin typeface="Menlo" panose="020B0609030804020204" pitchFamily="49" charset="0"/>
              </a:rPr>
              <a:t># Simulate an HTML content from a Travel Agency website</a:t>
            </a:r>
            <a:endParaRPr lang="en-US" b="0" dirty="0">
              <a:solidFill>
                <a:srgbClr val="000000"/>
              </a:solidFill>
              <a:effectLst/>
              <a:latin typeface="Menlo" panose="020B0609030804020204" pitchFamily="49" charset="0"/>
            </a:endParaRPr>
          </a:p>
          <a:p>
            <a:r>
              <a:rPr lang="en-US" b="0" dirty="0" err="1">
                <a:solidFill>
                  <a:srgbClr val="061783"/>
                </a:solidFill>
                <a:effectLst/>
                <a:latin typeface="Menlo" panose="020B0609030804020204" pitchFamily="49" charset="0"/>
              </a:rPr>
              <a:t>html_content</a:t>
            </a:r>
            <a:r>
              <a:rPr lang="en-US" b="0" dirty="0">
                <a:solidFill>
                  <a:srgbClr val="000000"/>
                </a:solidFill>
                <a:effectLst/>
                <a:latin typeface="Menlo" panose="020B0609030804020204" pitchFamily="49" charset="0"/>
              </a:rPr>
              <a:t> </a:t>
            </a:r>
            <a:r>
              <a:rPr lang="en-US" b="0" dirty="0">
                <a:solidFill>
                  <a:srgbClr val="0A0A0A"/>
                </a:solidFill>
                <a:effectLst/>
                <a:latin typeface="Menlo" panose="020B0609030804020204" pitchFamily="49" charset="0"/>
              </a:rPr>
              <a:t>=</a:t>
            </a:r>
            <a:r>
              <a:rPr lang="en-US" b="0" dirty="0">
                <a:solidFill>
                  <a:srgbClr val="000000"/>
                </a:solidFill>
                <a:effectLst/>
                <a:latin typeface="Menlo" panose="020B0609030804020204" pitchFamily="49" charset="0"/>
              </a:rPr>
              <a:t> </a:t>
            </a:r>
            <a:r>
              <a:rPr lang="en-US" b="0" dirty="0">
                <a:solidFill>
                  <a:srgbClr val="AE3131"/>
                </a:solidFill>
                <a:effectLst/>
                <a:latin typeface="Menlo" panose="020B0609030804020204" pitchFamily="49" charset="0"/>
              </a:rPr>
              <a:t>'&lt;div&gt;&lt;h1&gt;Welcome to the Best Travel Agency!&lt;/h1&gt;&lt;p&gt;Explore the world with us.&lt;/p&gt;&lt;/div&gt;'</a:t>
            </a:r>
            <a:endParaRPr lang="en-US" b="0" dirty="0">
              <a:solidFill>
                <a:srgbClr val="000000"/>
              </a:solidFill>
              <a:effectLst/>
              <a:latin typeface="Menlo" panose="020B0609030804020204" pitchFamily="49" charset="0"/>
            </a:endParaRPr>
          </a:p>
          <a:p>
            <a:r>
              <a:rPr lang="en-US" b="0" dirty="0">
                <a:solidFill>
                  <a:srgbClr val="061783"/>
                </a:solidFill>
                <a:effectLst/>
                <a:latin typeface="Menlo" panose="020B0609030804020204" pitchFamily="49" charset="0"/>
              </a:rPr>
              <a:t>soup</a:t>
            </a:r>
            <a:r>
              <a:rPr lang="en-US" b="0" dirty="0">
                <a:solidFill>
                  <a:srgbClr val="000000"/>
                </a:solidFill>
                <a:effectLst/>
                <a:latin typeface="Menlo" panose="020B0609030804020204" pitchFamily="49" charset="0"/>
              </a:rPr>
              <a:t> </a:t>
            </a:r>
            <a:r>
              <a:rPr lang="en-US" b="0" dirty="0">
                <a:solidFill>
                  <a:srgbClr val="0A0A0A"/>
                </a:solidFill>
                <a:effectLst/>
                <a:latin typeface="Menlo" panose="020B0609030804020204" pitchFamily="49" charset="0"/>
              </a:rPr>
              <a:t>=</a:t>
            </a:r>
            <a:r>
              <a:rPr lang="en-US" b="0" dirty="0">
                <a:solidFill>
                  <a:srgbClr val="000000"/>
                </a:solidFill>
                <a:effectLst/>
                <a:latin typeface="Menlo" panose="020B0609030804020204" pitchFamily="49" charset="0"/>
              </a:rPr>
              <a:t> </a:t>
            </a:r>
            <a:r>
              <a:rPr lang="en-US" b="0" dirty="0" err="1">
                <a:solidFill>
                  <a:srgbClr val="061783"/>
                </a:solidFill>
                <a:effectLst/>
                <a:latin typeface="Menlo" panose="020B0609030804020204" pitchFamily="49" charset="0"/>
              </a:rPr>
              <a:t>BeautifulSoup</a:t>
            </a:r>
            <a:r>
              <a:rPr lang="en-US" b="0" dirty="0">
                <a:solidFill>
                  <a:srgbClr val="000000"/>
                </a:solidFill>
                <a:effectLst/>
                <a:latin typeface="Menlo" panose="020B0609030804020204" pitchFamily="49" charset="0"/>
              </a:rPr>
              <a:t>(</a:t>
            </a:r>
            <a:r>
              <a:rPr lang="en-US" b="0" dirty="0" err="1">
                <a:solidFill>
                  <a:srgbClr val="061783"/>
                </a:solidFill>
                <a:effectLst/>
                <a:latin typeface="Menlo" panose="020B0609030804020204" pitchFamily="49" charset="0"/>
              </a:rPr>
              <a:t>html_content</a:t>
            </a:r>
            <a:r>
              <a:rPr lang="en-US" b="0" dirty="0">
                <a:solidFill>
                  <a:srgbClr val="000000"/>
                </a:solidFill>
                <a:effectLst/>
                <a:latin typeface="Menlo" panose="020B0609030804020204" pitchFamily="49" charset="0"/>
              </a:rPr>
              <a:t>, </a:t>
            </a:r>
            <a:r>
              <a:rPr lang="en-US" b="0" dirty="0">
                <a:solidFill>
                  <a:srgbClr val="AE3131"/>
                </a:solidFill>
                <a:effectLst/>
                <a:latin typeface="Menlo" panose="020B0609030804020204" pitchFamily="49" charset="0"/>
              </a:rPr>
              <a:t>'</a:t>
            </a:r>
            <a:r>
              <a:rPr lang="en-US" b="0" dirty="0" err="1">
                <a:solidFill>
                  <a:srgbClr val="AE3131"/>
                </a:solidFill>
                <a:effectLst/>
                <a:latin typeface="Menlo" panose="020B0609030804020204" pitchFamily="49" charset="0"/>
              </a:rPr>
              <a:t>html.parser</a:t>
            </a:r>
            <a:r>
              <a:rPr lang="en-US" b="0" dirty="0">
                <a:solidFill>
                  <a:srgbClr val="AE3131"/>
                </a:solidFill>
                <a:effectLst/>
                <a:latin typeface="Menlo" panose="020B0609030804020204" pitchFamily="49" charset="0"/>
              </a:rPr>
              <a:t>'</a:t>
            </a:r>
            <a:r>
              <a:rPr lang="en-US" b="0" dirty="0">
                <a:solidFill>
                  <a:srgbClr val="000000"/>
                </a:solidFill>
                <a:effectLst/>
                <a:latin typeface="Menlo" panose="020B0609030804020204" pitchFamily="49" charset="0"/>
              </a:rPr>
              <a:t>)</a:t>
            </a:r>
          </a:p>
          <a:p>
            <a:br>
              <a:rPr lang="en-US" b="0" dirty="0">
                <a:solidFill>
                  <a:srgbClr val="000000"/>
                </a:solidFill>
                <a:effectLst/>
                <a:latin typeface="Menlo" panose="020B0609030804020204" pitchFamily="49" charset="0"/>
              </a:rPr>
            </a:br>
            <a:r>
              <a:rPr lang="en-US" b="0" dirty="0">
                <a:solidFill>
                  <a:srgbClr val="60B060"/>
                </a:solidFill>
                <a:effectLst/>
                <a:latin typeface="Menlo" panose="020B0609030804020204" pitchFamily="49" charset="0"/>
              </a:rPr>
              <a:t># TODO: Print the introductory message found in the first paragraph `&lt;p&gt;` tag</a:t>
            </a:r>
            <a:endParaRPr lang="en-US" b="0" dirty="0">
              <a:solidFill>
                <a:srgbClr val="000000"/>
              </a:solidFill>
              <a:effectLst/>
              <a:latin typeface="Menlo" panose="020B0609030804020204" pitchFamily="49" charset="0"/>
            </a:endParaRPr>
          </a:p>
          <a:p>
            <a:r>
              <a:rPr lang="en-US" b="0" dirty="0" err="1">
                <a:solidFill>
                  <a:srgbClr val="061783"/>
                </a:solidFill>
                <a:effectLst/>
                <a:latin typeface="Menlo" panose="020B0609030804020204" pitchFamily="49" charset="0"/>
              </a:rPr>
              <a:t>agency_name</a:t>
            </a:r>
            <a:r>
              <a:rPr lang="en-US" b="0" dirty="0">
                <a:solidFill>
                  <a:srgbClr val="000000"/>
                </a:solidFill>
                <a:effectLst/>
                <a:latin typeface="Menlo" panose="020B0609030804020204" pitchFamily="49" charset="0"/>
              </a:rPr>
              <a:t> </a:t>
            </a:r>
            <a:r>
              <a:rPr lang="en-US" b="0" dirty="0">
                <a:solidFill>
                  <a:srgbClr val="0A0A0A"/>
                </a:solidFill>
                <a:effectLst/>
                <a:latin typeface="Menlo" panose="020B0609030804020204" pitchFamily="49" charset="0"/>
              </a:rPr>
              <a:t>=</a:t>
            </a:r>
            <a:r>
              <a:rPr lang="en-US" b="0" dirty="0">
                <a:solidFill>
                  <a:srgbClr val="000000"/>
                </a:solidFill>
                <a:effectLst/>
                <a:latin typeface="Menlo" panose="020B0609030804020204" pitchFamily="49" charset="0"/>
              </a:rPr>
              <a:t> </a:t>
            </a:r>
            <a:r>
              <a:rPr lang="en-US" b="0" dirty="0" err="1">
                <a:solidFill>
                  <a:srgbClr val="061783"/>
                </a:solidFill>
                <a:effectLst/>
                <a:latin typeface="Menlo" panose="020B0609030804020204" pitchFamily="49" charset="0"/>
              </a:rPr>
              <a:t>soup</a:t>
            </a:r>
            <a:r>
              <a:rPr lang="en-US" b="0" dirty="0" err="1">
                <a:solidFill>
                  <a:srgbClr val="000000"/>
                </a:solidFill>
                <a:effectLst/>
                <a:latin typeface="Menlo" panose="020B0609030804020204" pitchFamily="49" charset="0"/>
              </a:rPr>
              <a:t>.find</a:t>
            </a:r>
            <a:r>
              <a:rPr lang="en-US" b="0" dirty="0">
                <a:solidFill>
                  <a:srgbClr val="000000"/>
                </a:solidFill>
                <a:effectLst/>
                <a:latin typeface="Menlo" panose="020B0609030804020204" pitchFamily="49" charset="0"/>
              </a:rPr>
              <a:t>(</a:t>
            </a:r>
            <a:r>
              <a:rPr lang="en-US" b="0" dirty="0">
                <a:solidFill>
                  <a:srgbClr val="AE3131"/>
                </a:solidFill>
                <a:effectLst/>
                <a:latin typeface="Menlo" panose="020B0609030804020204" pitchFamily="49" charset="0"/>
              </a:rPr>
              <a:t>'h1'</a:t>
            </a:r>
            <a:r>
              <a:rPr lang="en-US" b="0" dirty="0">
                <a:solidFill>
                  <a:srgbClr val="000000"/>
                </a:solidFill>
                <a:effectLst/>
                <a:latin typeface="Menlo" panose="020B0609030804020204" pitchFamily="49" charset="0"/>
              </a:rPr>
              <a:t>).text</a:t>
            </a:r>
          </a:p>
          <a:p>
            <a:br>
              <a:rPr lang="en-US" b="0" dirty="0">
                <a:solidFill>
                  <a:srgbClr val="000000"/>
                </a:solidFill>
                <a:effectLst/>
                <a:latin typeface="Menlo" panose="020B0609030804020204" pitchFamily="49" charset="0"/>
              </a:rPr>
            </a:br>
            <a:r>
              <a:rPr lang="en-US" b="0" dirty="0">
                <a:solidFill>
                  <a:srgbClr val="60B060"/>
                </a:solidFill>
                <a:effectLst/>
                <a:latin typeface="Menlo" panose="020B0609030804020204" pitchFamily="49" charset="0"/>
              </a:rPr>
              <a:t># TODO: Remember to update the print message to 'Intro Message:' </a:t>
            </a:r>
            <a:endParaRPr lang="en-US" b="0" dirty="0">
              <a:solidFill>
                <a:srgbClr val="000000"/>
              </a:solidFill>
              <a:effectLst/>
              <a:latin typeface="Menlo" panose="020B0609030804020204" pitchFamily="49" charset="0"/>
            </a:endParaRPr>
          </a:p>
          <a:p>
            <a:r>
              <a:rPr lang="en-US" b="0" dirty="0">
                <a:solidFill>
                  <a:srgbClr val="B513DE"/>
                </a:solidFill>
                <a:effectLst/>
                <a:latin typeface="Menlo" panose="020B0609030804020204" pitchFamily="49" charset="0"/>
              </a:rPr>
              <a:t>print</a:t>
            </a:r>
            <a:r>
              <a:rPr lang="en-US" b="0" dirty="0">
                <a:solidFill>
                  <a:srgbClr val="000000"/>
                </a:solidFill>
                <a:effectLst/>
                <a:latin typeface="Menlo" panose="020B0609030804020204" pitchFamily="49" charset="0"/>
              </a:rPr>
              <a:t>(</a:t>
            </a:r>
            <a:r>
              <a:rPr lang="en-US" b="0" dirty="0" err="1">
                <a:solidFill>
                  <a:srgbClr val="AE3131"/>
                </a:solidFill>
                <a:effectLst/>
                <a:latin typeface="Menlo" panose="020B0609030804020204" pitchFamily="49" charset="0"/>
              </a:rPr>
              <a:t>f"Agency</a:t>
            </a:r>
            <a:r>
              <a:rPr lang="en-US" b="0" dirty="0">
                <a:solidFill>
                  <a:srgbClr val="AE3131"/>
                </a:solidFill>
                <a:effectLst/>
                <a:latin typeface="Menlo" panose="020B0609030804020204" pitchFamily="49" charset="0"/>
              </a:rPr>
              <a:t> Name: </a:t>
            </a:r>
            <a:r>
              <a:rPr lang="en-US" b="0" dirty="0">
                <a:solidFill>
                  <a:srgbClr val="000000"/>
                </a:solidFill>
                <a:effectLst/>
                <a:latin typeface="Menlo" panose="020B0609030804020204" pitchFamily="49" charset="0"/>
              </a:rPr>
              <a:t>{</a:t>
            </a:r>
            <a:r>
              <a:rPr lang="en-US" b="0" dirty="0" err="1">
                <a:solidFill>
                  <a:srgbClr val="061783"/>
                </a:solidFill>
                <a:effectLst/>
                <a:latin typeface="Menlo" panose="020B0609030804020204" pitchFamily="49" charset="0"/>
              </a:rPr>
              <a:t>agency_name</a:t>
            </a:r>
            <a:r>
              <a:rPr lang="en-US" b="0" dirty="0">
                <a:solidFill>
                  <a:srgbClr val="000000"/>
                </a:solidFill>
                <a:effectLst/>
                <a:latin typeface="Menlo" panose="020B0609030804020204" pitchFamily="49" charset="0"/>
              </a:rPr>
              <a:t>}</a:t>
            </a:r>
            <a:r>
              <a:rPr lang="en-US" b="0" dirty="0">
                <a:solidFill>
                  <a:srgbClr val="AE3131"/>
                </a:solidFill>
                <a:effectLst/>
                <a:latin typeface="Menlo" panose="020B0609030804020204" pitchFamily="49" charset="0"/>
              </a:rPr>
              <a:t>"</a:t>
            </a:r>
            <a:r>
              <a:rPr lang="en-US" b="0" dirty="0">
                <a:solidFill>
                  <a:srgbClr val="000000"/>
                </a:solidFill>
                <a:effectLst/>
                <a:latin typeface="Menlo" panose="020B0609030804020204" pitchFamily="49" charset="0"/>
              </a:rPr>
              <a:t>) </a:t>
            </a:r>
          </a:p>
          <a:p>
            <a:endParaRPr lang="en-US" dirty="0"/>
          </a:p>
        </p:txBody>
      </p:sp>
    </p:spTree>
    <p:extLst>
      <p:ext uri="{BB962C8B-B14F-4D97-AF65-F5344CB8AC3E}">
        <p14:creationId xmlns:p14="http://schemas.microsoft.com/office/powerpoint/2010/main" val="3796072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879D4-9423-071C-42D6-7CB54CE64BD0}"/>
              </a:ext>
            </a:extLst>
          </p:cNvPr>
          <p:cNvSpPr>
            <a:spLocks noGrp="1"/>
          </p:cNvSpPr>
          <p:nvPr>
            <p:ph type="title"/>
          </p:nvPr>
        </p:nvSpPr>
        <p:spPr/>
        <p:txBody>
          <a:bodyPr/>
          <a:lstStyle/>
          <a:p>
            <a:r>
              <a:rPr lang="en-US" dirty="0" err="1"/>
              <a:t>find_all</a:t>
            </a:r>
            <a:r>
              <a:rPr lang="en-US" b="0" i="0" dirty="0">
                <a:solidFill>
                  <a:srgbClr val="2F3956"/>
                </a:solidFill>
                <a:effectLst/>
                <a:latin typeface="Work Sans" pitchFamily="2" charset="77"/>
              </a:rPr>
              <a:t> method</a:t>
            </a:r>
            <a:endParaRPr lang="en-US" dirty="0"/>
          </a:p>
        </p:txBody>
      </p:sp>
      <p:sp>
        <p:nvSpPr>
          <p:cNvPr id="3" name="Content Placeholder 2">
            <a:extLst>
              <a:ext uri="{FF2B5EF4-FFF2-40B4-BE49-F238E27FC236}">
                <a16:creationId xmlns:a16="http://schemas.microsoft.com/office/drawing/2014/main" id="{A0733289-7D20-47BA-88A5-FAE39FDDC574}"/>
              </a:ext>
            </a:extLst>
          </p:cNvPr>
          <p:cNvSpPr>
            <a:spLocks noGrp="1"/>
          </p:cNvSpPr>
          <p:nvPr>
            <p:ph idx="1"/>
          </p:nvPr>
        </p:nvSpPr>
        <p:spPr/>
        <p:txBody>
          <a:bodyPr/>
          <a:lstStyle/>
          <a:p>
            <a:r>
              <a:rPr lang="en-US" dirty="0" err="1"/>
              <a:t>find_all</a:t>
            </a:r>
            <a:r>
              <a:rPr lang="en-US" b="0" i="0" dirty="0">
                <a:solidFill>
                  <a:srgbClr val="2F3956"/>
                </a:solidFill>
                <a:effectLst/>
                <a:latin typeface="Work Sans" pitchFamily="2" charset="77"/>
              </a:rPr>
              <a:t> method — a </a:t>
            </a:r>
            <a:r>
              <a:rPr lang="en-US" b="0" i="0" dirty="0" err="1">
                <a:solidFill>
                  <a:srgbClr val="2F3956"/>
                </a:solidFill>
                <a:effectLst/>
                <a:latin typeface="Work Sans" pitchFamily="2" charset="77"/>
              </a:rPr>
              <a:t>BeautifulSoup</a:t>
            </a:r>
            <a:r>
              <a:rPr lang="en-US" b="0" i="0" dirty="0">
                <a:solidFill>
                  <a:srgbClr val="2F3956"/>
                </a:solidFill>
                <a:effectLst/>
                <a:latin typeface="Work Sans" pitchFamily="2" charset="77"/>
              </a:rPr>
              <a:t> tool that finds all instances of a tag in a document and returns a </a:t>
            </a:r>
            <a:r>
              <a:rPr lang="en-US" b="0" i="0" dirty="0" err="1">
                <a:solidFill>
                  <a:srgbClr val="2F3956"/>
                </a:solidFill>
                <a:effectLst/>
                <a:latin typeface="Work Sans" pitchFamily="2" charset="77"/>
              </a:rPr>
              <a:t>ResultSet</a:t>
            </a:r>
            <a:r>
              <a:rPr lang="en-US" b="0" i="0" dirty="0">
                <a:solidFill>
                  <a:srgbClr val="2F3956"/>
                </a:solidFill>
                <a:effectLst/>
                <a:latin typeface="Work Sans" pitchFamily="2" charset="77"/>
              </a:rPr>
              <a:t> object, allowing us to extract text from specific HTML elements. </a:t>
            </a:r>
          </a:p>
          <a:p>
            <a:r>
              <a:rPr lang="en-US" b="0" i="0" dirty="0" err="1">
                <a:solidFill>
                  <a:srgbClr val="2F3956"/>
                </a:solidFill>
                <a:effectLst/>
                <a:latin typeface="Work Sans" pitchFamily="2" charset="77"/>
              </a:rPr>
              <a:t>ResultSet</a:t>
            </a:r>
            <a:r>
              <a:rPr lang="en-US" b="0" i="0" dirty="0">
                <a:solidFill>
                  <a:srgbClr val="2F3956"/>
                </a:solidFill>
                <a:effectLst/>
                <a:latin typeface="Work Sans" pitchFamily="2" charset="77"/>
              </a:rPr>
              <a:t> objects are lists of tags and strings that can be iterated over to access the content of the HTML elements. This method is versatile, allowing us to filter out HTML elements by their tag name, attributes, string values, or even by their position within the document.</a:t>
            </a:r>
            <a:endParaRPr lang="en-US" dirty="0"/>
          </a:p>
        </p:txBody>
      </p:sp>
    </p:spTree>
    <p:extLst>
      <p:ext uri="{BB962C8B-B14F-4D97-AF65-F5344CB8AC3E}">
        <p14:creationId xmlns:p14="http://schemas.microsoft.com/office/powerpoint/2010/main" val="2275341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348AAC-C0E2-3AD8-B763-9DB7D419B8DB}"/>
              </a:ext>
            </a:extLst>
          </p:cNvPr>
          <p:cNvSpPr>
            <a:spLocks noGrp="1"/>
          </p:cNvSpPr>
          <p:nvPr>
            <p:ph idx="1"/>
          </p:nvPr>
        </p:nvSpPr>
        <p:spPr>
          <a:xfrm>
            <a:off x="838200" y="475013"/>
            <a:ext cx="10515600" cy="5701950"/>
          </a:xfrm>
        </p:spPr>
        <p:txBody>
          <a:bodyPr>
            <a:normAutofit fontScale="55000" lnSpcReduction="20000"/>
          </a:bodyPr>
          <a:lstStyle/>
          <a:p>
            <a:pPr marL="0" indent="0">
              <a:buNone/>
            </a:pPr>
            <a:r>
              <a:rPr lang="en-US" dirty="0"/>
              <a:t>from bs4 import </a:t>
            </a:r>
            <a:r>
              <a:rPr lang="en-US" dirty="0" err="1"/>
              <a:t>BeautifulSoup</a:t>
            </a:r>
            <a:endParaRPr lang="en-US" dirty="0"/>
          </a:p>
          <a:p>
            <a:pPr marL="0" indent="0">
              <a:buNone/>
            </a:pPr>
            <a:r>
              <a:rPr lang="en-US" dirty="0" err="1"/>
              <a:t>html_content</a:t>
            </a:r>
            <a:r>
              <a:rPr lang="en-US" dirty="0"/>
              <a:t> = '''</a:t>
            </a:r>
          </a:p>
          <a:p>
            <a:pPr marL="0" indent="0">
              <a:buNone/>
            </a:pPr>
            <a:r>
              <a:rPr lang="en-US" dirty="0"/>
              <a:t>&lt;html&gt;&lt;body&gt;</a:t>
            </a:r>
          </a:p>
          <a:p>
            <a:pPr marL="0" indent="0">
              <a:buNone/>
            </a:pPr>
            <a:r>
              <a:rPr lang="en-US" dirty="0"/>
              <a:t>&lt;p&gt;Hello, World!&lt;/p&gt;</a:t>
            </a:r>
          </a:p>
          <a:p>
            <a:pPr marL="0" indent="0">
              <a:buNone/>
            </a:pPr>
            <a:r>
              <a:rPr lang="en-US" dirty="0"/>
              <a:t>&lt;p&gt;Welcome to web scraping with </a:t>
            </a:r>
            <a:r>
              <a:rPr lang="en-US" dirty="0" err="1"/>
              <a:t>BeautifulSoup</a:t>
            </a:r>
            <a:r>
              <a:rPr lang="en-US" dirty="0"/>
              <a:t>.&lt;/p&gt;</a:t>
            </a:r>
          </a:p>
          <a:p>
            <a:pPr marL="0" indent="0">
              <a:buNone/>
            </a:pPr>
            <a:r>
              <a:rPr lang="en-US" dirty="0"/>
              <a:t>&lt;/body&gt;&lt;/html&gt;</a:t>
            </a:r>
          </a:p>
          <a:p>
            <a:pPr marL="0" indent="0">
              <a:buNone/>
            </a:pPr>
            <a:r>
              <a:rPr lang="en-US" dirty="0"/>
              <a:t>'''</a:t>
            </a:r>
          </a:p>
          <a:p>
            <a:pPr marL="0" indent="0">
              <a:buNone/>
            </a:pPr>
            <a:endParaRPr lang="en-US" dirty="0"/>
          </a:p>
          <a:p>
            <a:pPr marL="0" indent="0">
              <a:buNone/>
            </a:pPr>
            <a:r>
              <a:rPr lang="en-US" dirty="0"/>
              <a:t>soup = </a:t>
            </a:r>
            <a:r>
              <a:rPr lang="en-US" dirty="0" err="1"/>
              <a:t>BeautifulSoup</a:t>
            </a:r>
            <a:r>
              <a:rPr lang="en-US" dirty="0"/>
              <a:t>(</a:t>
            </a:r>
            <a:r>
              <a:rPr lang="en-US" dirty="0" err="1"/>
              <a:t>html_content</a:t>
            </a:r>
            <a:r>
              <a:rPr lang="en-US" dirty="0"/>
              <a:t>, '</a:t>
            </a:r>
            <a:r>
              <a:rPr lang="en-US" dirty="0" err="1"/>
              <a:t>html.parser</a:t>
            </a:r>
            <a:r>
              <a:rPr lang="en-US" dirty="0"/>
              <a:t>’)</a:t>
            </a:r>
          </a:p>
          <a:p>
            <a:pPr marL="0" indent="0">
              <a:buNone/>
            </a:pPr>
            <a:r>
              <a:rPr lang="en-US" dirty="0"/>
              <a:t>paragraphs = </a:t>
            </a:r>
            <a:r>
              <a:rPr lang="en-US" dirty="0" err="1"/>
              <a:t>soup.find_all</a:t>
            </a:r>
            <a:r>
              <a:rPr lang="en-US" dirty="0"/>
              <a:t>('p')</a:t>
            </a:r>
          </a:p>
          <a:p>
            <a:pPr marL="0" indent="0">
              <a:buNone/>
            </a:pPr>
            <a:r>
              <a:rPr lang="en-US" dirty="0"/>
              <a:t>print(paragraphs)</a:t>
            </a:r>
          </a:p>
          <a:p>
            <a:pPr marL="0" indent="0">
              <a:buNone/>
            </a:pPr>
            <a:endParaRPr lang="en-US" dirty="0"/>
          </a:p>
          <a:p>
            <a:pPr marL="0" indent="0">
              <a:buNone/>
            </a:pPr>
            <a:r>
              <a:rPr lang="en-US" dirty="0"/>
              <a:t>[&lt;p&gt;Hello, World!&lt;/p&gt;, &lt;p&gt;Welcome to web scraping with </a:t>
            </a:r>
            <a:r>
              <a:rPr lang="en-US" dirty="0" err="1"/>
              <a:t>BeautifulSoup</a:t>
            </a:r>
            <a:r>
              <a:rPr lang="en-US" dirty="0"/>
              <a:t>.&lt;/p&gt;]</a:t>
            </a:r>
          </a:p>
          <a:p>
            <a:pPr marL="0" indent="0">
              <a:buNone/>
            </a:pPr>
            <a:endParaRPr lang="en-US" dirty="0"/>
          </a:p>
          <a:p>
            <a:pPr marL="0" indent="0">
              <a:buNone/>
            </a:pPr>
            <a:r>
              <a:rPr lang="en-US" dirty="0"/>
              <a:t>for paragraph in paragraphs:</a:t>
            </a:r>
          </a:p>
          <a:p>
            <a:pPr marL="0" indent="0">
              <a:buNone/>
            </a:pPr>
            <a:r>
              <a:rPr lang="en-US" dirty="0"/>
              <a:t>    print(</a:t>
            </a:r>
            <a:r>
              <a:rPr lang="en-US" dirty="0" err="1"/>
              <a:t>paragraph.text</a:t>
            </a:r>
            <a:r>
              <a:rPr lang="en-US" dirty="0"/>
              <a:t>)</a:t>
            </a:r>
          </a:p>
          <a:p>
            <a:pPr marL="0" indent="0">
              <a:buNone/>
            </a:pPr>
            <a:r>
              <a:rPr lang="en-US" dirty="0"/>
              <a:t>Hello, World!</a:t>
            </a:r>
          </a:p>
          <a:p>
            <a:pPr marL="0" indent="0">
              <a:buNone/>
            </a:pPr>
            <a:r>
              <a:rPr lang="en-US" dirty="0"/>
              <a:t>Welcome to web scraping with </a:t>
            </a:r>
            <a:r>
              <a:rPr lang="en-US" dirty="0" err="1"/>
              <a:t>BeautifulSoup</a:t>
            </a:r>
            <a:r>
              <a:rPr lang="en-US" dirty="0"/>
              <a:t>.</a:t>
            </a:r>
          </a:p>
        </p:txBody>
      </p:sp>
    </p:spTree>
    <p:extLst>
      <p:ext uri="{BB962C8B-B14F-4D97-AF65-F5344CB8AC3E}">
        <p14:creationId xmlns:p14="http://schemas.microsoft.com/office/powerpoint/2010/main" val="509940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17A55C-B212-2DDF-7C33-F50AEC2E56BD}"/>
              </a:ext>
            </a:extLst>
          </p:cNvPr>
          <p:cNvSpPr>
            <a:spLocks noGrp="1"/>
          </p:cNvSpPr>
          <p:nvPr>
            <p:ph idx="1"/>
          </p:nvPr>
        </p:nvSpPr>
        <p:spPr>
          <a:xfrm>
            <a:off x="838200" y="368135"/>
            <a:ext cx="10515600" cy="5808828"/>
          </a:xfrm>
        </p:spPr>
        <p:txBody>
          <a:bodyPr>
            <a:normAutofit fontScale="47500" lnSpcReduction="20000"/>
          </a:bodyPr>
          <a:lstStyle/>
          <a:p>
            <a:pPr marL="0" indent="0">
              <a:buNone/>
            </a:pPr>
            <a:r>
              <a:rPr lang="en-US" dirty="0"/>
              <a:t>from bs4 import </a:t>
            </a:r>
            <a:r>
              <a:rPr lang="en-US" dirty="0" err="1"/>
              <a:t>BeautifulSoup</a:t>
            </a:r>
            <a:endParaRPr lang="en-US" dirty="0"/>
          </a:p>
          <a:p>
            <a:pPr marL="0" indent="0">
              <a:buNone/>
            </a:pPr>
            <a:endParaRPr lang="en-US" dirty="0"/>
          </a:p>
          <a:p>
            <a:pPr marL="0" indent="0">
              <a:buNone/>
            </a:pPr>
            <a:r>
              <a:rPr lang="en-US" dirty="0" err="1"/>
              <a:t>html_content</a:t>
            </a:r>
            <a:r>
              <a:rPr lang="en-US" dirty="0"/>
              <a:t> = '''</a:t>
            </a:r>
          </a:p>
          <a:p>
            <a:pPr marL="0" indent="0">
              <a:buNone/>
            </a:pPr>
            <a:r>
              <a:rPr lang="en-US" dirty="0"/>
              <a:t>&lt;html&gt;&lt;body&gt;</a:t>
            </a:r>
          </a:p>
          <a:p>
            <a:pPr marL="0" indent="0">
              <a:buNone/>
            </a:pPr>
            <a:r>
              <a:rPr lang="en-US" dirty="0"/>
              <a:t>&lt;div id="main"&gt;</a:t>
            </a:r>
          </a:p>
          <a:p>
            <a:pPr marL="0" indent="0">
              <a:buNone/>
            </a:pPr>
            <a:r>
              <a:rPr lang="en-US" dirty="0"/>
              <a:t>    &lt;h1&gt;Welcome&lt;/h1&gt;</a:t>
            </a:r>
          </a:p>
          <a:p>
            <a:pPr marL="0" indent="0">
              <a:buNone/>
            </a:pPr>
            <a:r>
              <a:rPr lang="en-US" dirty="0"/>
              <a:t>    &lt;p&gt;Learn web scraping.&lt;/p&gt;</a:t>
            </a:r>
          </a:p>
          <a:p>
            <a:pPr marL="0" indent="0">
              <a:buNone/>
            </a:pPr>
            <a:r>
              <a:rPr lang="en-US" dirty="0"/>
              <a:t>    &lt;p class="special"&gt;Special paragraph about Beautiful Soup&lt;/p&gt;</a:t>
            </a:r>
          </a:p>
          <a:p>
            <a:pPr marL="0" indent="0">
              <a:buNone/>
            </a:pPr>
            <a:r>
              <a:rPr lang="en-US" dirty="0"/>
              <a:t>    &lt;p class="special"&gt;More exciting special paragraph about Beautiful Soup&lt;/p&gt;</a:t>
            </a:r>
          </a:p>
          <a:p>
            <a:pPr marL="0" indent="0">
              <a:buNone/>
            </a:pPr>
            <a:r>
              <a:rPr lang="en-US" dirty="0"/>
              <a:t>&lt;/div&gt;</a:t>
            </a:r>
          </a:p>
          <a:p>
            <a:pPr marL="0" indent="0">
              <a:buNone/>
            </a:pPr>
            <a:r>
              <a:rPr lang="en-US" dirty="0"/>
              <a:t>&lt;/body&gt;&lt;/html&gt;</a:t>
            </a:r>
          </a:p>
          <a:p>
            <a:pPr marL="0" indent="0">
              <a:buNone/>
            </a:pPr>
            <a:r>
              <a:rPr lang="en-US" dirty="0"/>
              <a:t>'''</a:t>
            </a:r>
          </a:p>
          <a:p>
            <a:pPr marL="0" indent="0">
              <a:buNone/>
            </a:pPr>
            <a:r>
              <a:rPr lang="en-US" dirty="0"/>
              <a:t>soup = </a:t>
            </a:r>
            <a:r>
              <a:rPr lang="en-US" dirty="0" err="1"/>
              <a:t>BeautifulSoup</a:t>
            </a:r>
            <a:r>
              <a:rPr lang="en-US" dirty="0"/>
              <a:t>(</a:t>
            </a:r>
            <a:r>
              <a:rPr lang="en-US" dirty="0" err="1"/>
              <a:t>html_content</a:t>
            </a:r>
            <a:r>
              <a:rPr lang="en-US" dirty="0"/>
              <a:t>, '</a:t>
            </a:r>
            <a:r>
              <a:rPr lang="en-US" dirty="0" err="1"/>
              <a:t>html.parser</a:t>
            </a:r>
            <a:r>
              <a:rPr lang="en-US" dirty="0"/>
              <a:t>')</a:t>
            </a:r>
          </a:p>
          <a:p>
            <a:pPr marL="0" indent="0">
              <a:buNone/>
            </a:pPr>
            <a:endParaRPr lang="en-US" dirty="0"/>
          </a:p>
          <a:p>
            <a:pPr marL="0" indent="0">
              <a:buNone/>
            </a:pPr>
            <a:r>
              <a:rPr lang="en-US" dirty="0"/>
              <a:t># Access the main 'div' using find</a:t>
            </a:r>
          </a:p>
          <a:p>
            <a:pPr marL="0" indent="0">
              <a:buNone/>
            </a:pPr>
            <a:r>
              <a:rPr lang="en-US" dirty="0" err="1"/>
              <a:t>special_paragraphs</a:t>
            </a:r>
            <a:r>
              <a:rPr lang="en-US" dirty="0"/>
              <a:t> = </a:t>
            </a:r>
            <a:r>
              <a:rPr lang="en-US" dirty="0" err="1"/>
              <a:t>soup.find_all</a:t>
            </a:r>
            <a:r>
              <a:rPr lang="en-US" dirty="0"/>
              <a:t>('p', class_='special')</a:t>
            </a:r>
          </a:p>
          <a:p>
            <a:pPr marL="0" indent="0">
              <a:buNone/>
            </a:pPr>
            <a:r>
              <a:rPr lang="en-US" dirty="0"/>
              <a:t>print("Special paragraphs:")</a:t>
            </a:r>
          </a:p>
          <a:p>
            <a:pPr marL="0" indent="0">
              <a:buNone/>
            </a:pPr>
            <a:r>
              <a:rPr lang="en-US" dirty="0"/>
              <a:t>print([</a:t>
            </a:r>
            <a:r>
              <a:rPr lang="en-US" dirty="0" err="1"/>
              <a:t>p.text</a:t>
            </a:r>
            <a:r>
              <a:rPr lang="en-US" dirty="0"/>
              <a:t> for p in </a:t>
            </a:r>
            <a:r>
              <a:rPr lang="en-US" dirty="0" err="1"/>
              <a:t>special_paragraphs</a:t>
            </a:r>
            <a:r>
              <a:rPr lang="en-US" dirty="0"/>
              <a:t>])</a:t>
            </a:r>
          </a:p>
          <a:p>
            <a:pPr marL="0" indent="0">
              <a:buNone/>
            </a:pPr>
            <a:endParaRPr lang="en-US" dirty="0"/>
          </a:p>
          <a:p>
            <a:pPr marL="0" indent="0">
              <a:buNone/>
            </a:pPr>
            <a:r>
              <a:rPr lang="en-US" dirty="0"/>
              <a:t>Special paragraphs:</a:t>
            </a:r>
          </a:p>
          <a:p>
            <a:pPr marL="0" indent="0">
              <a:buNone/>
            </a:pPr>
            <a:r>
              <a:rPr lang="en-US" dirty="0"/>
              <a:t>['Special paragraph about Beautiful Soup', 'More exciting special paragraph about Beautiful Soup']</a:t>
            </a:r>
          </a:p>
        </p:txBody>
      </p:sp>
    </p:spTree>
    <p:extLst>
      <p:ext uri="{BB962C8B-B14F-4D97-AF65-F5344CB8AC3E}">
        <p14:creationId xmlns:p14="http://schemas.microsoft.com/office/powerpoint/2010/main" val="1404349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8CF94-D078-852A-2885-1E3AAC3CC50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A8FB764-32C9-EE3D-8A45-9F27557F8A53}"/>
              </a:ext>
            </a:extLst>
          </p:cNvPr>
          <p:cNvSpPr>
            <a:spLocks noGrp="1"/>
          </p:cNvSpPr>
          <p:nvPr>
            <p:ph idx="1"/>
          </p:nvPr>
        </p:nvSpPr>
        <p:spPr/>
        <p:txBody>
          <a:bodyPr>
            <a:normAutofit fontScale="55000" lnSpcReduction="20000"/>
          </a:bodyPr>
          <a:lstStyle/>
          <a:p>
            <a:r>
              <a:rPr lang="en-US" b="0" dirty="0">
                <a:solidFill>
                  <a:srgbClr val="B513DE"/>
                </a:solidFill>
                <a:effectLst/>
                <a:latin typeface="Menlo" panose="020B0609030804020204" pitchFamily="49" charset="0"/>
              </a:rPr>
              <a:t>from</a:t>
            </a:r>
            <a:r>
              <a:rPr lang="en-US" b="0" dirty="0">
                <a:solidFill>
                  <a:srgbClr val="000000"/>
                </a:solidFill>
                <a:effectLst/>
                <a:latin typeface="Menlo" panose="020B0609030804020204" pitchFamily="49" charset="0"/>
              </a:rPr>
              <a:t> </a:t>
            </a:r>
            <a:r>
              <a:rPr lang="en-US" b="0" dirty="0">
                <a:solidFill>
                  <a:srgbClr val="061783"/>
                </a:solidFill>
                <a:effectLst/>
                <a:latin typeface="Menlo" panose="020B0609030804020204" pitchFamily="49" charset="0"/>
              </a:rPr>
              <a:t>bs4</a:t>
            </a:r>
            <a:r>
              <a:rPr lang="en-US" b="0" dirty="0">
                <a:solidFill>
                  <a:srgbClr val="000000"/>
                </a:solidFill>
                <a:effectLst/>
                <a:latin typeface="Menlo" panose="020B0609030804020204" pitchFamily="49" charset="0"/>
              </a:rPr>
              <a:t> </a:t>
            </a:r>
            <a:r>
              <a:rPr lang="en-US" b="0" dirty="0">
                <a:solidFill>
                  <a:srgbClr val="B513DE"/>
                </a:solidFill>
                <a:effectLst/>
                <a:latin typeface="Menlo" panose="020B0609030804020204" pitchFamily="49" charset="0"/>
              </a:rPr>
              <a:t>import</a:t>
            </a:r>
            <a:r>
              <a:rPr lang="en-US" b="0" dirty="0">
                <a:solidFill>
                  <a:srgbClr val="000000"/>
                </a:solidFill>
                <a:effectLst/>
                <a:latin typeface="Menlo" panose="020B0609030804020204" pitchFamily="49" charset="0"/>
              </a:rPr>
              <a:t> </a:t>
            </a:r>
            <a:r>
              <a:rPr lang="en-US" b="0" dirty="0" err="1">
                <a:solidFill>
                  <a:srgbClr val="061783"/>
                </a:solidFill>
                <a:effectLst/>
                <a:latin typeface="Menlo" panose="020B0609030804020204" pitchFamily="49" charset="0"/>
              </a:rPr>
              <a:t>BeautifulSoup</a:t>
            </a:r>
            <a:endParaRPr lang="en-US" b="0" dirty="0">
              <a:solidFill>
                <a:srgbClr val="000000"/>
              </a:solidFill>
              <a:effectLst/>
              <a:latin typeface="Menlo" panose="020B0609030804020204" pitchFamily="49" charset="0"/>
            </a:endParaRPr>
          </a:p>
          <a:p>
            <a:br>
              <a:rPr lang="en-US" b="0" dirty="0">
                <a:solidFill>
                  <a:srgbClr val="000000"/>
                </a:solidFill>
                <a:effectLst/>
                <a:latin typeface="Menlo" panose="020B0609030804020204" pitchFamily="49" charset="0"/>
              </a:rPr>
            </a:br>
            <a:r>
              <a:rPr lang="en-US" b="0" dirty="0">
                <a:solidFill>
                  <a:srgbClr val="60B060"/>
                </a:solidFill>
                <a:effectLst/>
                <a:latin typeface="Menlo" panose="020B0609030804020204" pitchFamily="49" charset="0"/>
              </a:rPr>
              <a:t># Given HTML content from the travel blog website scenario</a:t>
            </a:r>
            <a:endParaRPr lang="en-US" b="0" dirty="0">
              <a:solidFill>
                <a:srgbClr val="000000"/>
              </a:solidFill>
              <a:effectLst/>
              <a:latin typeface="Menlo" panose="020B0609030804020204" pitchFamily="49" charset="0"/>
            </a:endParaRPr>
          </a:p>
          <a:p>
            <a:r>
              <a:rPr lang="en-US" b="0" dirty="0" err="1">
                <a:solidFill>
                  <a:srgbClr val="061783"/>
                </a:solidFill>
                <a:effectLst/>
                <a:latin typeface="Menlo" panose="020B0609030804020204" pitchFamily="49" charset="0"/>
              </a:rPr>
              <a:t>html_content</a:t>
            </a:r>
            <a:r>
              <a:rPr lang="en-US" b="0" dirty="0">
                <a:solidFill>
                  <a:srgbClr val="000000"/>
                </a:solidFill>
                <a:effectLst/>
                <a:latin typeface="Menlo" panose="020B0609030804020204" pitchFamily="49" charset="0"/>
              </a:rPr>
              <a:t> </a:t>
            </a:r>
            <a:r>
              <a:rPr lang="en-US" b="0" dirty="0">
                <a:solidFill>
                  <a:srgbClr val="0A0A0A"/>
                </a:solidFill>
                <a:effectLst/>
                <a:latin typeface="Menlo" panose="020B0609030804020204" pitchFamily="49" charset="0"/>
              </a:rPr>
              <a:t>=</a:t>
            </a:r>
            <a:r>
              <a:rPr lang="en-US" b="0" dirty="0">
                <a:solidFill>
                  <a:srgbClr val="000000"/>
                </a:solidFill>
                <a:effectLst/>
                <a:latin typeface="Menlo" panose="020B0609030804020204" pitchFamily="49" charset="0"/>
              </a:rPr>
              <a:t> </a:t>
            </a:r>
            <a:r>
              <a:rPr lang="en-US" b="0" dirty="0">
                <a:solidFill>
                  <a:srgbClr val="AE3131"/>
                </a:solidFill>
                <a:effectLst/>
                <a:latin typeface="Menlo" panose="020B0609030804020204" pitchFamily="49" charset="0"/>
              </a:rPr>
              <a:t>'''</a:t>
            </a:r>
            <a:endParaRPr lang="en-US" b="0" dirty="0">
              <a:solidFill>
                <a:srgbClr val="000000"/>
              </a:solidFill>
              <a:effectLst/>
              <a:latin typeface="Menlo" panose="020B0609030804020204" pitchFamily="49" charset="0"/>
            </a:endParaRPr>
          </a:p>
          <a:p>
            <a:r>
              <a:rPr lang="en-US" b="0" dirty="0">
                <a:solidFill>
                  <a:srgbClr val="AE3131"/>
                </a:solidFill>
                <a:effectLst/>
                <a:latin typeface="Menlo" panose="020B0609030804020204" pitchFamily="49" charset="0"/>
              </a:rPr>
              <a:t>&lt;div&gt;</a:t>
            </a:r>
            <a:endParaRPr lang="en-US" b="0" dirty="0">
              <a:solidFill>
                <a:srgbClr val="000000"/>
              </a:solidFill>
              <a:effectLst/>
              <a:latin typeface="Menlo" panose="020B0609030804020204" pitchFamily="49" charset="0"/>
            </a:endParaRPr>
          </a:p>
          <a:p>
            <a:r>
              <a:rPr lang="en-US" b="0" dirty="0">
                <a:solidFill>
                  <a:srgbClr val="AE3131"/>
                </a:solidFill>
                <a:effectLst/>
                <a:latin typeface="Menlo" panose="020B0609030804020204" pitchFamily="49" charset="0"/>
              </a:rPr>
              <a:t>&lt;p&gt;Welcome to my travel blog. Here are my adventures:&lt;/p&gt;</a:t>
            </a:r>
            <a:endParaRPr lang="en-US" b="0" dirty="0">
              <a:solidFill>
                <a:srgbClr val="000000"/>
              </a:solidFill>
              <a:effectLst/>
              <a:latin typeface="Menlo" panose="020B0609030804020204" pitchFamily="49" charset="0"/>
            </a:endParaRPr>
          </a:p>
          <a:p>
            <a:r>
              <a:rPr lang="en-US" b="0" dirty="0">
                <a:solidFill>
                  <a:srgbClr val="AE3131"/>
                </a:solidFill>
                <a:effectLst/>
                <a:latin typeface="Menlo" panose="020B0609030804020204" pitchFamily="49" charset="0"/>
              </a:rPr>
              <a:t>&lt;p&gt;Day 1: I've arrived in Paris, and the Eiffel Tower is stunning!&lt;/p&gt;</a:t>
            </a:r>
            <a:endParaRPr lang="en-US" b="0" dirty="0">
              <a:solidFill>
                <a:srgbClr val="000000"/>
              </a:solidFill>
              <a:effectLst/>
              <a:latin typeface="Menlo" panose="020B0609030804020204" pitchFamily="49" charset="0"/>
            </a:endParaRPr>
          </a:p>
          <a:p>
            <a:r>
              <a:rPr lang="en-US" b="0" dirty="0">
                <a:solidFill>
                  <a:srgbClr val="AE3131"/>
                </a:solidFill>
                <a:effectLst/>
                <a:latin typeface="Menlo" panose="020B0609030804020204" pitchFamily="49" charset="0"/>
              </a:rPr>
              <a:t>&lt;p&gt;Day 2: The Louvre was amazing, so much to see.&lt;/p&gt;</a:t>
            </a:r>
            <a:endParaRPr lang="en-US" b="0" dirty="0">
              <a:solidFill>
                <a:srgbClr val="000000"/>
              </a:solidFill>
              <a:effectLst/>
              <a:latin typeface="Menlo" panose="020B0609030804020204" pitchFamily="49" charset="0"/>
            </a:endParaRPr>
          </a:p>
          <a:p>
            <a:r>
              <a:rPr lang="en-US" b="0" dirty="0">
                <a:solidFill>
                  <a:srgbClr val="AE3131"/>
                </a:solidFill>
                <a:effectLst/>
                <a:latin typeface="Menlo" panose="020B0609030804020204" pitchFamily="49" charset="0"/>
              </a:rPr>
              <a:t>&lt;/div&gt;</a:t>
            </a:r>
            <a:endParaRPr lang="en-US" b="0" dirty="0">
              <a:solidFill>
                <a:srgbClr val="000000"/>
              </a:solidFill>
              <a:effectLst/>
              <a:latin typeface="Menlo" panose="020B0609030804020204" pitchFamily="49" charset="0"/>
            </a:endParaRPr>
          </a:p>
          <a:p>
            <a:r>
              <a:rPr lang="en-US" b="0" dirty="0">
                <a:solidFill>
                  <a:srgbClr val="AE3131"/>
                </a:solidFill>
                <a:effectLst/>
                <a:latin typeface="Menlo" panose="020B0609030804020204" pitchFamily="49" charset="0"/>
              </a:rPr>
              <a:t>'''</a:t>
            </a:r>
            <a:endParaRPr lang="en-US" b="0" dirty="0">
              <a:solidFill>
                <a:srgbClr val="000000"/>
              </a:solidFill>
              <a:effectLst/>
              <a:latin typeface="Menlo" panose="020B0609030804020204" pitchFamily="49" charset="0"/>
            </a:endParaRPr>
          </a:p>
          <a:p>
            <a:r>
              <a:rPr lang="en-US" b="0" dirty="0">
                <a:solidFill>
                  <a:srgbClr val="061783"/>
                </a:solidFill>
                <a:effectLst/>
                <a:latin typeface="Menlo" panose="020B0609030804020204" pitchFamily="49" charset="0"/>
              </a:rPr>
              <a:t>soup</a:t>
            </a:r>
            <a:r>
              <a:rPr lang="en-US" b="0" dirty="0">
                <a:solidFill>
                  <a:srgbClr val="000000"/>
                </a:solidFill>
                <a:effectLst/>
                <a:latin typeface="Menlo" panose="020B0609030804020204" pitchFamily="49" charset="0"/>
              </a:rPr>
              <a:t> </a:t>
            </a:r>
            <a:r>
              <a:rPr lang="en-US" b="0" dirty="0">
                <a:solidFill>
                  <a:srgbClr val="0A0A0A"/>
                </a:solidFill>
                <a:effectLst/>
                <a:latin typeface="Menlo" panose="020B0609030804020204" pitchFamily="49" charset="0"/>
              </a:rPr>
              <a:t>=</a:t>
            </a:r>
            <a:r>
              <a:rPr lang="en-US" b="0" dirty="0">
                <a:solidFill>
                  <a:srgbClr val="000000"/>
                </a:solidFill>
                <a:effectLst/>
                <a:latin typeface="Menlo" panose="020B0609030804020204" pitchFamily="49" charset="0"/>
              </a:rPr>
              <a:t> </a:t>
            </a:r>
            <a:r>
              <a:rPr lang="en-US" b="0" dirty="0" err="1">
                <a:solidFill>
                  <a:srgbClr val="061783"/>
                </a:solidFill>
                <a:effectLst/>
                <a:latin typeface="Menlo" panose="020B0609030804020204" pitchFamily="49" charset="0"/>
              </a:rPr>
              <a:t>BeautifulSoup</a:t>
            </a:r>
            <a:r>
              <a:rPr lang="en-US" b="0" dirty="0">
                <a:solidFill>
                  <a:srgbClr val="000000"/>
                </a:solidFill>
                <a:effectLst/>
                <a:latin typeface="Menlo" panose="020B0609030804020204" pitchFamily="49" charset="0"/>
              </a:rPr>
              <a:t>(</a:t>
            </a:r>
            <a:r>
              <a:rPr lang="en-US" b="0" dirty="0" err="1">
                <a:solidFill>
                  <a:srgbClr val="061783"/>
                </a:solidFill>
                <a:effectLst/>
                <a:latin typeface="Menlo" panose="020B0609030804020204" pitchFamily="49" charset="0"/>
              </a:rPr>
              <a:t>html_content</a:t>
            </a:r>
            <a:r>
              <a:rPr lang="en-US" b="0" dirty="0">
                <a:solidFill>
                  <a:srgbClr val="000000"/>
                </a:solidFill>
                <a:effectLst/>
                <a:latin typeface="Menlo" panose="020B0609030804020204" pitchFamily="49" charset="0"/>
              </a:rPr>
              <a:t>, </a:t>
            </a:r>
            <a:r>
              <a:rPr lang="en-US" b="0" dirty="0">
                <a:solidFill>
                  <a:srgbClr val="AE3131"/>
                </a:solidFill>
                <a:effectLst/>
                <a:latin typeface="Menlo" panose="020B0609030804020204" pitchFamily="49" charset="0"/>
              </a:rPr>
              <a:t>'</a:t>
            </a:r>
            <a:r>
              <a:rPr lang="en-US" b="0" dirty="0" err="1">
                <a:solidFill>
                  <a:srgbClr val="AE3131"/>
                </a:solidFill>
                <a:effectLst/>
                <a:latin typeface="Menlo" panose="020B0609030804020204" pitchFamily="49" charset="0"/>
              </a:rPr>
              <a:t>html.parser</a:t>
            </a:r>
            <a:r>
              <a:rPr lang="en-US" b="0" dirty="0">
                <a:solidFill>
                  <a:srgbClr val="AE3131"/>
                </a:solidFill>
                <a:effectLst/>
                <a:latin typeface="Menlo" panose="020B0609030804020204" pitchFamily="49" charset="0"/>
              </a:rPr>
              <a:t>'</a:t>
            </a:r>
            <a:r>
              <a:rPr lang="en-US" b="0" dirty="0">
                <a:solidFill>
                  <a:srgbClr val="000000"/>
                </a:solidFill>
                <a:effectLst/>
                <a:latin typeface="Menlo" panose="020B0609030804020204" pitchFamily="49" charset="0"/>
              </a:rPr>
              <a:t>)</a:t>
            </a:r>
          </a:p>
          <a:p>
            <a:br>
              <a:rPr lang="en-US" b="0" dirty="0">
                <a:solidFill>
                  <a:srgbClr val="000000"/>
                </a:solidFill>
                <a:effectLst/>
                <a:latin typeface="Menlo" panose="020B0609030804020204" pitchFamily="49" charset="0"/>
              </a:rPr>
            </a:br>
            <a:r>
              <a:rPr lang="en-US" b="0" dirty="0">
                <a:solidFill>
                  <a:srgbClr val="60B060"/>
                </a:solidFill>
                <a:effectLst/>
                <a:latin typeface="Menlo" panose="020B0609030804020204" pitchFamily="49" charset="0"/>
              </a:rPr>
              <a:t># Print out all the texts within paragraph tags</a:t>
            </a:r>
            <a:endParaRPr lang="en-US" b="0" dirty="0">
              <a:solidFill>
                <a:srgbClr val="000000"/>
              </a:solidFill>
              <a:effectLst/>
              <a:latin typeface="Menlo" panose="020B0609030804020204" pitchFamily="49" charset="0"/>
            </a:endParaRPr>
          </a:p>
          <a:p>
            <a:r>
              <a:rPr lang="en-US" b="0" dirty="0">
                <a:solidFill>
                  <a:srgbClr val="B513DE"/>
                </a:solidFill>
                <a:effectLst/>
                <a:latin typeface="Menlo" panose="020B0609030804020204" pitchFamily="49" charset="0"/>
              </a:rPr>
              <a:t>for</a:t>
            </a:r>
            <a:r>
              <a:rPr lang="en-US" b="0" dirty="0">
                <a:solidFill>
                  <a:srgbClr val="000000"/>
                </a:solidFill>
                <a:effectLst/>
                <a:latin typeface="Menlo" panose="020B0609030804020204" pitchFamily="49" charset="0"/>
              </a:rPr>
              <a:t> </a:t>
            </a:r>
            <a:r>
              <a:rPr lang="en-US" b="0" dirty="0">
                <a:solidFill>
                  <a:srgbClr val="061783"/>
                </a:solidFill>
                <a:effectLst/>
                <a:latin typeface="Menlo" panose="020B0609030804020204" pitchFamily="49" charset="0"/>
              </a:rPr>
              <a:t>paragraph</a:t>
            </a:r>
            <a:r>
              <a:rPr lang="en-US" b="0" dirty="0">
                <a:solidFill>
                  <a:srgbClr val="000000"/>
                </a:solidFill>
                <a:effectLst/>
                <a:latin typeface="Menlo" panose="020B0609030804020204" pitchFamily="49" charset="0"/>
              </a:rPr>
              <a:t> </a:t>
            </a:r>
            <a:r>
              <a:rPr lang="en-US" b="0" dirty="0">
                <a:solidFill>
                  <a:srgbClr val="B513DE"/>
                </a:solidFill>
                <a:effectLst/>
                <a:latin typeface="Menlo" panose="020B0609030804020204" pitchFamily="49" charset="0"/>
              </a:rPr>
              <a:t>in</a:t>
            </a:r>
            <a:r>
              <a:rPr lang="en-US" b="0" dirty="0">
                <a:solidFill>
                  <a:srgbClr val="000000"/>
                </a:solidFill>
                <a:effectLst/>
                <a:latin typeface="Menlo" panose="020B0609030804020204" pitchFamily="49" charset="0"/>
              </a:rPr>
              <a:t> </a:t>
            </a:r>
            <a:r>
              <a:rPr lang="en-US" b="0" dirty="0" err="1">
                <a:solidFill>
                  <a:srgbClr val="061783"/>
                </a:solidFill>
                <a:effectLst/>
                <a:latin typeface="Menlo" panose="020B0609030804020204" pitchFamily="49" charset="0"/>
              </a:rPr>
              <a:t>soup</a:t>
            </a:r>
            <a:r>
              <a:rPr lang="en-US" b="0" dirty="0" err="1">
                <a:solidFill>
                  <a:srgbClr val="000000"/>
                </a:solidFill>
                <a:effectLst/>
                <a:latin typeface="Menlo" panose="020B0609030804020204" pitchFamily="49" charset="0"/>
              </a:rPr>
              <a:t>.find_all</a:t>
            </a:r>
            <a:r>
              <a:rPr lang="en-US" b="0" dirty="0">
                <a:solidFill>
                  <a:srgbClr val="000000"/>
                </a:solidFill>
                <a:effectLst/>
                <a:latin typeface="Menlo" panose="020B0609030804020204" pitchFamily="49" charset="0"/>
              </a:rPr>
              <a:t>(</a:t>
            </a:r>
            <a:r>
              <a:rPr lang="en-US" b="0" dirty="0">
                <a:solidFill>
                  <a:srgbClr val="AE3131"/>
                </a:solidFill>
                <a:effectLst/>
                <a:latin typeface="Menlo" panose="020B0609030804020204" pitchFamily="49" charset="0"/>
              </a:rPr>
              <a:t>'p'</a:t>
            </a:r>
            <a:r>
              <a:rPr lang="en-US" b="0" dirty="0">
                <a:solidFill>
                  <a:srgbClr val="000000"/>
                </a:solidFill>
                <a:effectLst/>
                <a:latin typeface="Menlo" panose="020B0609030804020204" pitchFamily="49" charset="0"/>
              </a:rPr>
              <a:t>):</a:t>
            </a:r>
          </a:p>
          <a:p>
            <a:r>
              <a:rPr lang="en-US" b="0" dirty="0">
                <a:solidFill>
                  <a:srgbClr val="B513DE"/>
                </a:solidFill>
                <a:effectLst/>
                <a:latin typeface="Menlo" panose="020B0609030804020204" pitchFamily="49" charset="0"/>
              </a:rPr>
              <a:t>print</a:t>
            </a:r>
            <a:r>
              <a:rPr lang="en-US" b="0" dirty="0">
                <a:solidFill>
                  <a:srgbClr val="000000"/>
                </a:solidFill>
                <a:effectLst/>
                <a:latin typeface="Menlo" panose="020B0609030804020204" pitchFamily="49" charset="0"/>
              </a:rPr>
              <a:t>(</a:t>
            </a:r>
            <a:r>
              <a:rPr lang="en-US" b="0" dirty="0" err="1">
                <a:solidFill>
                  <a:srgbClr val="061783"/>
                </a:solidFill>
                <a:effectLst/>
                <a:latin typeface="Menlo" panose="020B0609030804020204" pitchFamily="49" charset="0"/>
              </a:rPr>
              <a:t>paragraph</a:t>
            </a:r>
            <a:r>
              <a:rPr lang="en-US" b="0" dirty="0" err="1">
                <a:solidFill>
                  <a:srgbClr val="000000"/>
                </a:solidFill>
                <a:effectLst/>
                <a:latin typeface="Menlo" panose="020B0609030804020204" pitchFamily="49" charset="0"/>
              </a:rPr>
              <a:t>.text</a:t>
            </a:r>
            <a:r>
              <a:rPr lang="en-US" b="0" dirty="0">
                <a:solidFill>
                  <a:srgbClr val="000000"/>
                </a:solidFill>
                <a:effectLst/>
                <a:latin typeface="Menlo" panose="020B0609030804020204" pitchFamily="49" charset="0"/>
              </a:rPr>
              <a:t>)</a:t>
            </a:r>
          </a:p>
          <a:p>
            <a:endParaRPr lang="en-US" dirty="0"/>
          </a:p>
        </p:txBody>
      </p:sp>
    </p:spTree>
    <p:extLst>
      <p:ext uri="{BB962C8B-B14F-4D97-AF65-F5344CB8AC3E}">
        <p14:creationId xmlns:p14="http://schemas.microsoft.com/office/powerpoint/2010/main" val="15351922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05AB4-C707-495D-310A-6DD1097971C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E42A14D-27DD-888F-6185-361C18A5C12C}"/>
              </a:ext>
            </a:extLst>
          </p:cNvPr>
          <p:cNvSpPr>
            <a:spLocks noGrp="1"/>
          </p:cNvSpPr>
          <p:nvPr>
            <p:ph idx="1"/>
          </p:nvPr>
        </p:nvSpPr>
        <p:spPr/>
        <p:txBody>
          <a:bodyPr>
            <a:normAutofit fontScale="92500"/>
          </a:bodyPr>
          <a:lstStyle/>
          <a:p>
            <a:r>
              <a:rPr lang="en-US" b="0" dirty="0">
                <a:solidFill>
                  <a:srgbClr val="B513DE"/>
                </a:solidFill>
                <a:effectLst/>
                <a:latin typeface="Menlo" panose="020B0609030804020204" pitchFamily="49" charset="0"/>
              </a:rPr>
              <a:t>from</a:t>
            </a:r>
            <a:r>
              <a:rPr lang="en-US" b="0" dirty="0">
                <a:solidFill>
                  <a:srgbClr val="000000"/>
                </a:solidFill>
                <a:effectLst/>
                <a:latin typeface="Menlo" panose="020B0609030804020204" pitchFamily="49" charset="0"/>
              </a:rPr>
              <a:t> </a:t>
            </a:r>
            <a:r>
              <a:rPr lang="en-US" b="0" dirty="0">
                <a:solidFill>
                  <a:srgbClr val="061783"/>
                </a:solidFill>
                <a:effectLst/>
                <a:latin typeface="Menlo" panose="020B0609030804020204" pitchFamily="49" charset="0"/>
              </a:rPr>
              <a:t>bs4</a:t>
            </a:r>
            <a:r>
              <a:rPr lang="en-US" b="0" dirty="0">
                <a:solidFill>
                  <a:srgbClr val="000000"/>
                </a:solidFill>
                <a:effectLst/>
                <a:latin typeface="Menlo" panose="020B0609030804020204" pitchFamily="49" charset="0"/>
              </a:rPr>
              <a:t> </a:t>
            </a:r>
            <a:r>
              <a:rPr lang="en-US" b="0" dirty="0">
                <a:solidFill>
                  <a:srgbClr val="B513DE"/>
                </a:solidFill>
                <a:effectLst/>
                <a:latin typeface="Menlo" panose="020B0609030804020204" pitchFamily="49" charset="0"/>
              </a:rPr>
              <a:t>import</a:t>
            </a:r>
            <a:r>
              <a:rPr lang="en-US" b="0" dirty="0">
                <a:solidFill>
                  <a:srgbClr val="000000"/>
                </a:solidFill>
                <a:effectLst/>
                <a:latin typeface="Menlo" panose="020B0609030804020204" pitchFamily="49" charset="0"/>
              </a:rPr>
              <a:t> </a:t>
            </a:r>
            <a:r>
              <a:rPr lang="en-US" b="0" dirty="0" err="1">
                <a:solidFill>
                  <a:srgbClr val="061783"/>
                </a:solidFill>
                <a:effectLst/>
                <a:latin typeface="Menlo" panose="020B0609030804020204" pitchFamily="49" charset="0"/>
              </a:rPr>
              <a:t>BeautifulSoup</a:t>
            </a:r>
            <a:endParaRPr lang="en-US" b="0" dirty="0">
              <a:solidFill>
                <a:srgbClr val="000000"/>
              </a:solidFill>
              <a:effectLst/>
              <a:latin typeface="Menlo" panose="020B0609030804020204" pitchFamily="49" charset="0"/>
            </a:endParaRPr>
          </a:p>
          <a:p>
            <a:br>
              <a:rPr lang="en-US" b="0" dirty="0">
                <a:solidFill>
                  <a:srgbClr val="000000"/>
                </a:solidFill>
                <a:effectLst/>
                <a:latin typeface="Menlo" panose="020B0609030804020204" pitchFamily="49" charset="0"/>
              </a:rPr>
            </a:br>
            <a:r>
              <a:rPr lang="en-US" b="0" dirty="0" err="1">
                <a:solidFill>
                  <a:srgbClr val="061783"/>
                </a:solidFill>
                <a:effectLst/>
                <a:latin typeface="Menlo" panose="020B0609030804020204" pitchFamily="49" charset="0"/>
              </a:rPr>
              <a:t>html_content</a:t>
            </a:r>
            <a:r>
              <a:rPr lang="en-US" b="0" dirty="0">
                <a:solidFill>
                  <a:srgbClr val="000000"/>
                </a:solidFill>
                <a:effectLst/>
                <a:latin typeface="Menlo" panose="020B0609030804020204" pitchFamily="49" charset="0"/>
              </a:rPr>
              <a:t> </a:t>
            </a:r>
            <a:r>
              <a:rPr lang="en-US" b="0" dirty="0">
                <a:solidFill>
                  <a:srgbClr val="0A0A0A"/>
                </a:solidFill>
                <a:effectLst/>
                <a:latin typeface="Menlo" panose="020B0609030804020204" pitchFamily="49" charset="0"/>
              </a:rPr>
              <a:t>=</a:t>
            </a:r>
            <a:r>
              <a:rPr lang="en-US" b="0" dirty="0">
                <a:solidFill>
                  <a:srgbClr val="000000"/>
                </a:solidFill>
                <a:effectLst/>
                <a:latin typeface="Menlo" panose="020B0609030804020204" pitchFamily="49" charset="0"/>
              </a:rPr>
              <a:t> </a:t>
            </a:r>
            <a:r>
              <a:rPr lang="en-US" b="0" dirty="0">
                <a:solidFill>
                  <a:srgbClr val="AE3131"/>
                </a:solidFill>
                <a:effectLst/>
                <a:latin typeface="Menlo" panose="020B0609030804020204" pitchFamily="49" charset="0"/>
              </a:rPr>
              <a:t>"&lt;div&gt;&lt;p&gt;Amazing travel destinations:&lt;/p&gt;&lt;p&gt;Paris, France&lt;/p&gt;&lt;p&gt;Bali, Indonesia&lt;/p&gt;&lt;/div&gt;"</a:t>
            </a:r>
            <a:endParaRPr lang="en-US" b="0" dirty="0">
              <a:solidFill>
                <a:srgbClr val="000000"/>
              </a:solidFill>
              <a:effectLst/>
              <a:latin typeface="Menlo" panose="020B0609030804020204" pitchFamily="49" charset="0"/>
            </a:endParaRPr>
          </a:p>
          <a:p>
            <a:r>
              <a:rPr lang="en-US" b="0" dirty="0">
                <a:solidFill>
                  <a:srgbClr val="061783"/>
                </a:solidFill>
                <a:effectLst/>
                <a:latin typeface="Menlo" panose="020B0609030804020204" pitchFamily="49" charset="0"/>
              </a:rPr>
              <a:t>soup</a:t>
            </a:r>
            <a:r>
              <a:rPr lang="en-US" b="0" dirty="0">
                <a:solidFill>
                  <a:srgbClr val="000000"/>
                </a:solidFill>
                <a:effectLst/>
                <a:latin typeface="Menlo" panose="020B0609030804020204" pitchFamily="49" charset="0"/>
              </a:rPr>
              <a:t> </a:t>
            </a:r>
            <a:r>
              <a:rPr lang="en-US" b="0" dirty="0">
                <a:solidFill>
                  <a:srgbClr val="0A0A0A"/>
                </a:solidFill>
                <a:effectLst/>
                <a:latin typeface="Menlo" panose="020B0609030804020204" pitchFamily="49" charset="0"/>
              </a:rPr>
              <a:t>=</a:t>
            </a:r>
            <a:r>
              <a:rPr lang="en-US" b="0" dirty="0">
                <a:solidFill>
                  <a:srgbClr val="000000"/>
                </a:solidFill>
                <a:effectLst/>
                <a:latin typeface="Menlo" panose="020B0609030804020204" pitchFamily="49" charset="0"/>
              </a:rPr>
              <a:t> </a:t>
            </a:r>
            <a:r>
              <a:rPr lang="en-US" b="0" dirty="0" err="1">
                <a:solidFill>
                  <a:srgbClr val="061783"/>
                </a:solidFill>
                <a:effectLst/>
                <a:latin typeface="Menlo" panose="020B0609030804020204" pitchFamily="49" charset="0"/>
              </a:rPr>
              <a:t>BeautifulSoup</a:t>
            </a:r>
            <a:r>
              <a:rPr lang="en-US" b="0" dirty="0">
                <a:solidFill>
                  <a:srgbClr val="000000"/>
                </a:solidFill>
                <a:effectLst/>
                <a:latin typeface="Menlo" panose="020B0609030804020204" pitchFamily="49" charset="0"/>
              </a:rPr>
              <a:t>(</a:t>
            </a:r>
            <a:r>
              <a:rPr lang="en-US" b="0" dirty="0" err="1">
                <a:solidFill>
                  <a:srgbClr val="061783"/>
                </a:solidFill>
                <a:effectLst/>
                <a:latin typeface="Menlo" panose="020B0609030804020204" pitchFamily="49" charset="0"/>
              </a:rPr>
              <a:t>html_content</a:t>
            </a:r>
            <a:r>
              <a:rPr lang="en-US" b="0" dirty="0">
                <a:solidFill>
                  <a:srgbClr val="000000"/>
                </a:solidFill>
                <a:effectLst/>
                <a:latin typeface="Menlo" panose="020B0609030804020204" pitchFamily="49" charset="0"/>
              </a:rPr>
              <a:t>, </a:t>
            </a:r>
            <a:r>
              <a:rPr lang="en-US" b="0" dirty="0">
                <a:solidFill>
                  <a:srgbClr val="AE3131"/>
                </a:solidFill>
                <a:effectLst/>
                <a:latin typeface="Menlo" panose="020B0609030804020204" pitchFamily="49" charset="0"/>
              </a:rPr>
              <a:t>'</a:t>
            </a:r>
            <a:r>
              <a:rPr lang="en-US" b="0" dirty="0" err="1">
                <a:solidFill>
                  <a:srgbClr val="AE3131"/>
                </a:solidFill>
                <a:effectLst/>
                <a:latin typeface="Menlo" panose="020B0609030804020204" pitchFamily="49" charset="0"/>
              </a:rPr>
              <a:t>html.parser</a:t>
            </a:r>
            <a:r>
              <a:rPr lang="en-US" b="0" dirty="0">
                <a:solidFill>
                  <a:srgbClr val="AE3131"/>
                </a:solidFill>
                <a:effectLst/>
                <a:latin typeface="Menlo" panose="020B0609030804020204" pitchFamily="49" charset="0"/>
              </a:rPr>
              <a:t>'</a:t>
            </a:r>
            <a:r>
              <a:rPr lang="en-US" b="0" dirty="0">
                <a:solidFill>
                  <a:srgbClr val="000000"/>
                </a:solidFill>
                <a:effectLst/>
                <a:latin typeface="Menlo" panose="020B0609030804020204" pitchFamily="49" charset="0"/>
              </a:rPr>
              <a:t>)</a:t>
            </a:r>
          </a:p>
          <a:p>
            <a:r>
              <a:rPr lang="en-US" b="0" dirty="0">
                <a:solidFill>
                  <a:srgbClr val="061783"/>
                </a:solidFill>
                <a:effectLst/>
                <a:latin typeface="Menlo" panose="020B0609030804020204" pitchFamily="49" charset="0"/>
              </a:rPr>
              <a:t>paragraphs</a:t>
            </a:r>
            <a:r>
              <a:rPr lang="en-US" b="0" dirty="0">
                <a:solidFill>
                  <a:srgbClr val="000000"/>
                </a:solidFill>
                <a:effectLst/>
                <a:latin typeface="Menlo" panose="020B0609030804020204" pitchFamily="49" charset="0"/>
              </a:rPr>
              <a:t> </a:t>
            </a:r>
            <a:r>
              <a:rPr lang="en-US" b="0" dirty="0">
                <a:solidFill>
                  <a:srgbClr val="0A0A0A"/>
                </a:solidFill>
                <a:effectLst/>
                <a:latin typeface="Menlo" panose="020B0609030804020204" pitchFamily="49" charset="0"/>
              </a:rPr>
              <a:t>=</a:t>
            </a:r>
            <a:r>
              <a:rPr lang="en-US" b="0" dirty="0">
                <a:solidFill>
                  <a:srgbClr val="000000"/>
                </a:solidFill>
                <a:effectLst/>
                <a:latin typeface="Menlo" panose="020B0609030804020204" pitchFamily="49" charset="0"/>
              </a:rPr>
              <a:t> </a:t>
            </a:r>
            <a:r>
              <a:rPr lang="en-US" b="0" dirty="0" err="1">
                <a:solidFill>
                  <a:srgbClr val="061783"/>
                </a:solidFill>
                <a:effectLst/>
                <a:latin typeface="Menlo" panose="020B0609030804020204" pitchFamily="49" charset="0"/>
              </a:rPr>
              <a:t>soup</a:t>
            </a:r>
            <a:r>
              <a:rPr lang="en-US" b="0" dirty="0" err="1">
                <a:solidFill>
                  <a:srgbClr val="000000"/>
                </a:solidFill>
                <a:effectLst/>
                <a:latin typeface="Menlo" panose="020B0609030804020204" pitchFamily="49" charset="0"/>
              </a:rPr>
              <a:t>.find_all</a:t>
            </a:r>
            <a:r>
              <a:rPr lang="en-US" b="0" dirty="0">
                <a:solidFill>
                  <a:srgbClr val="000000"/>
                </a:solidFill>
                <a:effectLst/>
                <a:latin typeface="Menlo" panose="020B0609030804020204" pitchFamily="49" charset="0"/>
              </a:rPr>
              <a:t>(</a:t>
            </a:r>
            <a:r>
              <a:rPr lang="en-US" b="0" dirty="0">
                <a:solidFill>
                  <a:srgbClr val="AE3131"/>
                </a:solidFill>
                <a:effectLst/>
                <a:latin typeface="Menlo" panose="020B0609030804020204" pitchFamily="49" charset="0"/>
              </a:rPr>
              <a:t>'div'</a:t>
            </a:r>
            <a:r>
              <a:rPr lang="en-US" b="0" dirty="0">
                <a:solidFill>
                  <a:srgbClr val="000000"/>
                </a:solidFill>
                <a:effectLst/>
                <a:latin typeface="Menlo" panose="020B0609030804020204" pitchFamily="49" charset="0"/>
              </a:rPr>
              <a:t>)</a:t>
            </a:r>
          </a:p>
          <a:p>
            <a:br>
              <a:rPr lang="en-US" b="0" dirty="0">
                <a:solidFill>
                  <a:srgbClr val="000000"/>
                </a:solidFill>
                <a:effectLst/>
                <a:latin typeface="Menlo" panose="020B0609030804020204" pitchFamily="49" charset="0"/>
              </a:rPr>
            </a:br>
            <a:r>
              <a:rPr lang="en-US" b="0" dirty="0">
                <a:solidFill>
                  <a:srgbClr val="B513DE"/>
                </a:solidFill>
                <a:effectLst/>
                <a:latin typeface="Menlo" panose="020B0609030804020204" pitchFamily="49" charset="0"/>
              </a:rPr>
              <a:t>for</a:t>
            </a:r>
            <a:r>
              <a:rPr lang="en-US" b="0" dirty="0">
                <a:solidFill>
                  <a:srgbClr val="000000"/>
                </a:solidFill>
                <a:effectLst/>
                <a:latin typeface="Menlo" panose="020B0609030804020204" pitchFamily="49" charset="0"/>
              </a:rPr>
              <a:t> </a:t>
            </a:r>
            <a:r>
              <a:rPr lang="en-US" b="0" dirty="0">
                <a:solidFill>
                  <a:srgbClr val="061783"/>
                </a:solidFill>
                <a:effectLst/>
                <a:latin typeface="Menlo" panose="020B0609030804020204" pitchFamily="49" charset="0"/>
              </a:rPr>
              <a:t>paragraph</a:t>
            </a:r>
            <a:r>
              <a:rPr lang="en-US" b="0" dirty="0">
                <a:solidFill>
                  <a:srgbClr val="000000"/>
                </a:solidFill>
                <a:effectLst/>
                <a:latin typeface="Menlo" panose="020B0609030804020204" pitchFamily="49" charset="0"/>
              </a:rPr>
              <a:t> </a:t>
            </a:r>
            <a:r>
              <a:rPr lang="en-US" b="0" dirty="0">
                <a:solidFill>
                  <a:srgbClr val="B513DE"/>
                </a:solidFill>
                <a:effectLst/>
                <a:latin typeface="Menlo" panose="020B0609030804020204" pitchFamily="49" charset="0"/>
              </a:rPr>
              <a:t>in</a:t>
            </a:r>
            <a:r>
              <a:rPr lang="en-US" b="0" dirty="0">
                <a:solidFill>
                  <a:srgbClr val="000000"/>
                </a:solidFill>
                <a:effectLst/>
                <a:latin typeface="Menlo" panose="020B0609030804020204" pitchFamily="49" charset="0"/>
              </a:rPr>
              <a:t> </a:t>
            </a:r>
            <a:r>
              <a:rPr lang="en-US" b="0" dirty="0">
                <a:solidFill>
                  <a:srgbClr val="061783"/>
                </a:solidFill>
                <a:effectLst/>
                <a:latin typeface="Menlo" panose="020B0609030804020204" pitchFamily="49" charset="0"/>
              </a:rPr>
              <a:t>paragraphs</a:t>
            </a:r>
            <a:r>
              <a:rPr lang="en-US" b="0" dirty="0">
                <a:solidFill>
                  <a:srgbClr val="000000"/>
                </a:solidFill>
                <a:effectLst/>
                <a:latin typeface="Menlo" panose="020B0609030804020204" pitchFamily="49" charset="0"/>
              </a:rPr>
              <a:t>:</a:t>
            </a:r>
          </a:p>
          <a:p>
            <a:r>
              <a:rPr lang="en-US" b="0" dirty="0">
                <a:solidFill>
                  <a:srgbClr val="B513DE"/>
                </a:solidFill>
                <a:effectLst/>
                <a:latin typeface="Menlo" panose="020B0609030804020204" pitchFamily="49" charset="0"/>
              </a:rPr>
              <a:t>print</a:t>
            </a:r>
            <a:r>
              <a:rPr lang="en-US" b="0" dirty="0">
                <a:solidFill>
                  <a:srgbClr val="000000"/>
                </a:solidFill>
                <a:effectLst/>
                <a:latin typeface="Menlo" panose="020B0609030804020204" pitchFamily="49" charset="0"/>
              </a:rPr>
              <a:t>(</a:t>
            </a:r>
            <a:r>
              <a:rPr lang="en-US" b="0" dirty="0" err="1">
                <a:solidFill>
                  <a:srgbClr val="061783"/>
                </a:solidFill>
                <a:effectLst/>
                <a:latin typeface="Menlo" panose="020B0609030804020204" pitchFamily="49" charset="0"/>
              </a:rPr>
              <a:t>paragraph</a:t>
            </a:r>
            <a:r>
              <a:rPr lang="en-US" b="0" dirty="0" err="1">
                <a:solidFill>
                  <a:srgbClr val="000000"/>
                </a:solidFill>
                <a:effectLst/>
                <a:latin typeface="Menlo" panose="020B0609030804020204" pitchFamily="49" charset="0"/>
              </a:rPr>
              <a:t>.text</a:t>
            </a:r>
            <a:r>
              <a:rPr lang="en-US" b="0" dirty="0">
                <a:solidFill>
                  <a:srgbClr val="000000"/>
                </a:solidFill>
                <a:effectLst/>
                <a:latin typeface="Menlo" panose="020B0609030804020204" pitchFamily="49" charset="0"/>
              </a:rPr>
              <a:t>)</a:t>
            </a:r>
          </a:p>
          <a:p>
            <a:endParaRPr lang="en-US" dirty="0"/>
          </a:p>
        </p:txBody>
      </p:sp>
    </p:spTree>
    <p:extLst>
      <p:ext uri="{BB962C8B-B14F-4D97-AF65-F5344CB8AC3E}">
        <p14:creationId xmlns:p14="http://schemas.microsoft.com/office/powerpoint/2010/main" val="27829091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F2C21-C60E-4F67-A711-112B1EE98C5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AD9554D-8CBB-7559-60E0-ACAFBCA9E639}"/>
              </a:ext>
            </a:extLst>
          </p:cNvPr>
          <p:cNvSpPr>
            <a:spLocks noGrp="1"/>
          </p:cNvSpPr>
          <p:nvPr>
            <p:ph idx="1"/>
          </p:nvPr>
        </p:nvSpPr>
        <p:spPr/>
        <p:txBody>
          <a:bodyPr>
            <a:normAutofit fontScale="92500" lnSpcReduction="20000"/>
          </a:bodyPr>
          <a:lstStyle/>
          <a:p>
            <a:r>
              <a:rPr lang="en-US" b="0" dirty="0">
                <a:solidFill>
                  <a:srgbClr val="B513DE"/>
                </a:solidFill>
                <a:effectLst/>
                <a:latin typeface="Menlo" panose="020B0609030804020204" pitchFamily="49" charset="0"/>
              </a:rPr>
              <a:t>from</a:t>
            </a:r>
            <a:r>
              <a:rPr lang="en-US" b="0" dirty="0">
                <a:solidFill>
                  <a:srgbClr val="000000"/>
                </a:solidFill>
                <a:effectLst/>
                <a:latin typeface="Menlo" panose="020B0609030804020204" pitchFamily="49" charset="0"/>
              </a:rPr>
              <a:t> </a:t>
            </a:r>
            <a:r>
              <a:rPr lang="en-US" b="0" dirty="0">
                <a:solidFill>
                  <a:srgbClr val="061783"/>
                </a:solidFill>
                <a:effectLst/>
                <a:latin typeface="Menlo" panose="020B0609030804020204" pitchFamily="49" charset="0"/>
              </a:rPr>
              <a:t>bs4</a:t>
            </a:r>
            <a:r>
              <a:rPr lang="en-US" b="0" dirty="0">
                <a:solidFill>
                  <a:srgbClr val="000000"/>
                </a:solidFill>
                <a:effectLst/>
                <a:latin typeface="Menlo" panose="020B0609030804020204" pitchFamily="49" charset="0"/>
              </a:rPr>
              <a:t> </a:t>
            </a:r>
            <a:r>
              <a:rPr lang="en-US" b="0" dirty="0">
                <a:solidFill>
                  <a:srgbClr val="B513DE"/>
                </a:solidFill>
                <a:effectLst/>
                <a:latin typeface="Menlo" panose="020B0609030804020204" pitchFamily="49" charset="0"/>
              </a:rPr>
              <a:t>import</a:t>
            </a:r>
            <a:r>
              <a:rPr lang="en-US" b="0" dirty="0">
                <a:solidFill>
                  <a:srgbClr val="000000"/>
                </a:solidFill>
                <a:effectLst/>
                <a:latin typeface="Menlo" panose="020B0609030804020204" pitchFamily="49" charset="0"/>
              </a:rPr>
              <a:t> </a:t>
            </a:r>
            <a:r>
              <a:rPr lang="en-US" b="0" dirty="0" err="1">
                <a:solidFill>
                  <a:srgbClr val="061783"/>
                </a:solidFill>
                <a:effectLst/>
                <a:latin typeface="Menlo" panose="020B0609030804020204" pitchFamily="49" charset="0"/>
              </a:rPr>
              <a:t>BeautifulSoup</a:t>
            </a:r>
            <a:endParaRPr lang="en-US" b="0" dirty="0">
              <a:solidFill>
                <a:srgbClr val="000000"/>
              </a:solidFill>
              <a:effectLst/>
              <a:latin typeface="Menlo" panose="020B0609030804020204" pitchFamily="49" charset="0"/>
            </a:endParaRPr>
          </a:p>
          <a:p>
            <a:br>
              <a:rPr lang="en-US" b="0" dirty="0">
                <a:solidFill>
                  <a:srgbClr val="000000"/>
                </a:solidFill>
                <a:effectLst/>
                <a:latin typeface="Menlo" panose="020B0609030804020204" pitchFamily="49" charset="0"/>
              </a:rPr>
            </a:br>
            <a:r>
              <a:rPr lang="en-US" b="0" dirty="0" err="1">
                <a:solidFill>
                  <a:srgbClr val="061783"/>
                </a:solidFill>
                <a:effectLst/>
                <a:latin typeface="Menlo" panose="020B0609030804020204" pitchFamily="49" charset="0"/>
              </a:rPr>
              <a:t>html_content</a:t>
            </a:r>
            <a:r>
              <a:rPr lang="en-US" b="0" dirty="0">
                <a:solidFill>
                  <a:srgbClr val="000000"/>
                </a:solidFill>
                <a:effectLst/>
                <a:latin typeface="Menlo" panose="020B0609030804020204" pitchFamily="49" charset="0"/>
              </a:rPr>
              <a:t> </a:t>
            </a:r>
            <a:r>
              <a:rPr lang="en-US" b="0" dirty="0">
                <a:solidFill>
                  <a:srgbClr val="0A0A0A"/>
                </a:solidFill>
                <a:effectLst/>
                <a:latin typeface="Menlo" panose="020B0609030804020204" pitchFamily="49" charset="0"/>
              </a:rPr>
              <a:t>=</a:t>
            </a:r>
            <a:r>
              <a:rPr lang="en-US" b="0" dirty="0">
                <a:solidFill>
                  <a:srgbClr val="000000"/>
                </a:solidFill>
                <a:effectLst/>
                <a:latin typeface="Menlo" panose="020B0609030804020204" pitchFamily="49" charset="0"/>
              </a:rPr>
              <a:t> </a:t>
            </a:r>
            <a:r>
              <a:rPr lang="en-US" b="0" dirty="0">
                <a:solidFill>
                  <a:srgbClr val="AE3131"/>
                </a:solidFill>
                <a:effectLst/>
                <a:latin typeface="Menlo" panose="020B0609030804020204" pitchFamily="49" charset="0"/>
              </a:rPr>
              <a:t>'&lt;div&gt;&lt;p class="story"&gt;Adventures in the Sahara.&lt;/p&gt;&lt;p class="story"&gt;Exploring the Amazon Rainforest.&lt;/p&gt;&lt;p&gt;Exploring the Space&lt;/p&gt;&lt;/div&gt;'</a:t>
            </a:r>
            <a:endParaRPr lang="en-US" b="0" dirty="0">
              <a:solidFill>
                <a:srgbClr val="000000"/>
              </a:solidFill>
              <a:effectLst/>
              <a:latin typeface="Menlo" panose="020B0609030804020204" pitchFamily="49" charset="0"/>
            </a:endParaRPr>
          </a:p>
          <a:p>
            <a:r>
              <a:rPr lang="en-US" b="0" dirty="0">
                <a:solidFill>
                  <a:srgbClr val="061783"/>
                </a:solidFill>
                <a:effectLst/>
                <a:latin typeface="Menlo" panose="020B0609030804020204" pitchFamily="49" charset="0"/>
              </a:rPr>
              <a:t>soup</a:t>
            </a:r>
            <a:r>
              <a:rPr lang="en-US" b="0" dirty="0">
                <a:solidFill>
                  <a:srgbClr val="000000"/>
                </a:solidFill>
                <a:effectLst/>
                <a:latin typeface="Menlo" panose="020B0609030804020204" pitchFamily="49" charset="0"/>
              </a:rPr>
              <a:t> </a:t>
            </a:r>
            <a:r>
              <a:rPr lang="en-US" b="0" dirty="0">
                <a:solidFill>
                  <a:srgbClr val="0A0A0A"/>
                </a:solidFill>
                <a:effectLst/>
                <a:latin typeface="Menlo" panose="020B0609030804020204" pitchFamily="49" charset="0"/>
              </a:rPr>
              <a:t>=</a:t>
            </a:r>
            <a:r>
              <a:rPr lang="en-US" b="0" dirty="0">
                <a:solidFill>
                  <a:srgbClr val="000000"/>
                </a:solidFill>
                <a:effectLst/>
                <a:latin typeface="Menlo" panose="020B0609030804020204" pitchFamily="49" charset="0"/>
              </a:rPr>
              <a:t> </a:t>
            </a:r>
            <a:r>
              <a:rPr lang="en-US" b="0" dirty="0" err="1">
                <a:solidFill>
                  <a:srgbClr val="061783"/>
                </a:solidFill>
                <a:effectLst/>
                <a:latin typeface="Menlo" panose="020B0609030804020204" pitchFamily="49" charset="0"/>
              </a:rPr>
              <a:t>BeautifulSoup</a:t>
            </a:r>
            <a:r>
              <a:rPr lang="en-US" b="0" dirty="0">
                <a:solidFill>
                  <a:srgbClr val="000000"/>
                </a:solidFill>
                <a:effectLst/>
                <a:latin typeface="Menlo" panose="020B0609030804020204" pitchFamily="49" charset="0"/>
              </a:rPr>
              <a:t>(</a:t>
            </a:r>
            <a:r>
              <a:rPr lang="en-US" b="0" dirty="0" err="1">
                <a:solidFill>
                  <a:srgbClr val="061783"/>
                </a:solidFill>
                <a:effectLst/>
                <a:latin typeface="Menlo" panose="020B0609030804020204" pitchFamily="49" charset="0"/>
              </a:rPr>
              <a:t>html_content</a:t>
            </a:r>
            <a:r>
              <a:rPr lang="en-US" b="0" dirty="0">
                <a:solidFill>
                  <a:srgbClr val="000000"/>
                </a:solidFill>
                <a:effectLst/>
                <a:latin typeface="Menlo" panose="020B0609030804020204" pitchFamily="49" charset="0"/>
              </a:rPr>
              <a:t>, </a:t>
            </a:r>
            <a:r>
              <a:rPr lang="en-US" b="0" dirty="0">
                <a:solidFill>
                  <a:srgbClr val="AE3131"/>
                </a:solidFill>
                <a:effectLst/>
                <a:latin typeface="Menlo" panose="020B0609030804020204" pitchFamily="49" charset="0"/>
              </a:rPr>
              <a:t>'</a:t>
            </a:r>
            <a:r>
              <a:rPr lang="en-US" b="0" dirty="0" err="1">
                <a:solidFill>
                  <a:srgbClr val="AE3131"/>
                </a:solidFill>
                <a:effectLst/>
                <a:latin typeface="Menlo" panose="020B0609030804020204" pitchFamily="49" charset="0"/>
              </a:rPr>
              <a:t>html.parser</a:t>
            </a:r>
            <a:r>
              <a:rPr lang="en-US" b="0" dirty="0">
                <a:solidFill>
                  <a:srgbClr val="AE3131"/>
                </a:solidFill>
                <a:effectLst/>
                <a:latin typeface="Menlo" panose="020B0609030804020204" pitchFamily="49" charset="0"/>
              </a:rPr>
              <a:t>'</a:t>
            </a:r>
            <a:r>
              <a:rPr lang="en-US" b="0" dirty="0">
                <a:solidFill>
                  <a:srgbClr val="000000"/>
                </a:solidFill>
                <a:effectLst/>
                <a:latin typeface="Menlo" panose="020B0609030804020204" pitchFamily="49" charset="0"/>
              </a:rPr>
              <a:t>)</a:t>
            </a:r>
          </a:p>
          <a:p>
            <a:r>
              <a:rPr lang="en-US" b="0" dirty="0">
                <a:solidFill>
                  <a:srgbClr val="061783"/>
                </a:solidFill>
                <a:effectLst/>
                <a:latin typeface="Menlo" panose="020B0609030804020204" pitchFamily="49" charset="0"/>
              </a:rPr>
              <a:t>p</a:t>
            </a:r>
            <a:r>
              <a:rPr lang="en-US" b="0" dirty="0">
                <a:solidFill>
                  <a:srgbClr val="0A0A0A"/>
                </a:solidFill>
                <a:effectLst/>
                <a:latin typeface="Menlo" panose="020B0609030804020204" pitchFamily="49" charset="0"/>
              </a:rPr>
              <a:t>=</a:t>
            </a:r>
            <a:r>
              <a:rPr lang="en-US" b="0" dirty="0" err="1">
                <a:solidFill>
                  <a:srgbClr val="061783"/>
                </a:solidFill>
                <a:effectLst/>
                <a:latin typeface="Menlo" panose="020B0609030804020204" pitchFamily="49" charset="0"/>
              </a:rPr>
              <a:t>soup</a:t>
            </a:r>
            <a:r>
              <a:rPr lang="en-US" b="0" dirty="0" err="1">
                <a:solidFill>
                  <a:srgbClr val="000000"/>
                </a:solidFill>
                <a:effectLst/>
                <a:latin typeface="Menlo" panose="020B0609030804020204" pitchFamily="49" charset="0"/>
              </a:rPr>
              <a:t>.find_all</a:t>
            </a:r>
            <a:r>
              <a:rPr lang="en-US" b="0" dirty="0">
                <a:solidFill>
                  <a:srgbClr val="000000"/>
                </a:solidFill>
                <a:effectLst/>
                <a:latin typeface="Menlo" panose="020B0609030804020204" pitchFamily="49" charset="0"/>
              </a:rPr>
              <a:t>(</a:t>
            </a:r>
            <a:r>
              <a:rPr lang="en-US" b="0" dirty="0">
                <a:solidFill>
                  <a:srgbClr val="AE3131"/>
                </a:solidFill>
                <a:effectLst/>
                <a:latin typeface="Menlo" panose="020B0609030804020204" pitchFamily="49" charset="0"/>
              </a:rPr>
              <a:t>'</a:t>
            </a:r>
            <a:r>
              <a:rPr lang="en-US" b="0" dirty="0" err="1">
                <a:solidFill>
                  <a:srgbClr val="AE3131"/>
                </a:solidFill>
                <a:effectLst/>
                <a:latin typeface="Menlo" panose="020B0609030804020204" pitchFamily="49" charset="0"/>
              </a:rPr>
              <a:t>p'</a:t>
            </a:r>
            <a:r>
              <a:rPr lang="en-US" b="0" dirty="0" err="1">
                <a:solidFill>
                  <a:srgbClr val="000000"/>
                </a:solidFill>
                <a:effectLst/>
                <a:latin typeface="Menlo" panose="020B0609030804020204" pitchFamily="49" charset="0"/>
              </a:rPr>
              <a:t>,</a:t>
            </a:r>
            <a:r>
              <a:rPr lang="en-US" b="0" dirty="0" err="1">
                <a:solidFill>
                  <a:srgbClr val="061783"/>
                </a:solidFill>
                <a:effectLst/>
                <a:latin typeface="Menlo" panose="020B0609030804020204" pitchFamily="49" charset="0"/>
              </a:rPr>
              <a:t>class</a:t>
            </a:r>
            <a:r>
              <a:rPr lang="en-US" b="0" dirty="0">
                <a:solidFill>
                  <a:srgbClr val="061783"/>
                </a:solidFill>
                <a:effectLst/>
                <a:latin typeface="Menlo" panose="020B0609030804020204" pitchFamily="49" charset="0"/>
              </a:rPr>
              <a:t>_</a:t>
            </a:r>
            <a:r>
              <a:rPr lang="en-US" b="0" dirty="0">
                <a:solidFill>
                  <a:srgbClr val="0A0A0A"/>
                </a:solidFill>
                <a:effectLst/>
                <a:latin typeface="Menlo" panose="020B0609030804020204" pitchFamily="49" charset="0"/>
              </a:rPr>
              <a:t>=</a:t>
            </a:r>
            <a:r>
              <a:rPr lang="en-US" b="0" dirty="0">
                <a:solidFill>
                  <a:srgbClr val="AE3131"/>
                </a:solidFill>
                <a:effectLst/>
                <a:latin typeface="Menlo" panose="020B0609030804020204" pitchFamily="49" charset="0"/>
              </a:rPr>
              <a:t>"story"</a:t>
            </a:r>
            <a:r>
              <a:rPr lang="en-US" b="0" dirty="0">
                <a:solidFill>
                  <a:srgbClr val="000000"/>
                </a:solidFill>
                <a:effectLst/>
                <a:latin typeface="Menlo" panose="020B0609030804020204" pitchFamily="49" charset="0"/>
              </a:rPr>
              <a:t>)</a:t>
            </a:r>
          </a:p>
          <a:p>
            <a:r>
              <a:rPr lang="en-US" b="0" dirty="0">
                <a:solidFill>
                  <a:srgbClr val="B513DE"/>
                </a:solidFill>
                <a:effectLst/>
                <a:latin typeface="Menlo" panose="020B0609030804020204" pitchFamily="49" charset="0"/>
              </a:rPr>
              <a:t>for</a:t>
            </a:r>
            <a:r>
              <a:rPr lang="en-US" b="0" dirty="0">
                <a:solidFill>
                  <a:srgbClr val="000000"/>
                </a:solidFill>
                <a:effectLst/>
                <a:latin typeface="Menlo" panose="020B0609030804020204" pitchFamily="49" charset="0"/>
              </a:rPr>
              <a:t> </a:t>
            </a:r>
            <a:r>
              <a:rPr lang="en-US" b="0" dirty="0">
                <a:solidFill>
                  <a:srgbClr val="061783"/>
                </a:solidFill>
                <a:effectLst/>
                <a:latin typeface="Menlo" panose="020B0609030804020204" pitchFamily="49" charset="0"/>
              </a:rPr>
              <a:t>p</a:t>
            </a:r>
            <a:r>
              <a:rPr lang="en-US" b="0" dirty="0">
                <a:solidFill>
                  <a:srgbClr val="000000"/>
                </a:solidFill>
                <a:effectLst/>
                <a:latin typeface="Menlo" panose="020B0609030804020204" pitchFamily="49" charset="0"/>
              </a:rPr>
              <a:t> </a:t>
            </a:r>
            <a:r>
              <a:rPr lang="en-US" b="0" dirty="0">
                <a:solidFill>
                  <a:srgbClr val="B513DE"/>
                </a:solidFill>
                <a:effectLst/>
                <a:latin typeface="Menlo" panose="020B0609030804020204" pitchFamily="49" charset="0"/>
              </a:rPr>
              <a:t>in</a:t>
            </a:r>
            <a:r>
              <a:rPr lang="en-US" b="0" dirty="0">
                <a:solidFill>
                  <a:srgbClr val="000000"/>
                </a:solidFill>
                <a:effectLst/>
                <a:latin typeface="Menlo" panose="020B0609030804020204" pitchFamily="49" charset="0"/>
              </a:rPr>
              <a:t> </a:t>
            </a:r>
            <a:r>
              <a:rPr lang="en-US" b="0" dirty="0">
                <a:solidFill>
                  <a:srgbClr val="061783"/>
                </a:solidFill>
                <a:effectLst/>
                <a:latin typeface="Menlo" panose="020B0609030804020204" pitchFamily="49" charset="0"/>
              </a:rPr>
              <a:t>p</a:t>
            </a:r>
            <a:r>
              <a:rPr lang="en-US" b="0" dirty="0">
                <a:solidFill>
                  <a:srgbClr val="000000"/>
                </a:solidFill>
                <a:effectLst/>
                <a:latin typeface="Menlo" panose="020B0609030804020204" pitchFamily="49" charset="0"/>
              </a:rPr>
              <a:t>:</a:t>
            </a:r>
          </a:p>
          <a:p>
            <a:r>
              <a:rPr lang="en-US" b="0" dirty="0">
                <a:solidFill>
                  <a:srgbClr val="B513DE"/>
                </a:solidFill>
                <a:effectLst/>
                <a:latin typeface="Menlo" panose="020B0609030804020204" pitchFamily="49" charset="0"/>
              </a:rPr>
              <a:t>print</a:t>
            </a:r>
            <a:r>
              <a:rPr lang="en-US" b="0" dirty="0">
                <a:solidFill>
                  <a:srgbClr val="000000"/>
                </a:solidFill>
                <a:effectLst/>
                <a:latin typeface="Menlo" panose="020B0609030804020204" pitchFamily="49" charset="0"/>
              </a:rPr>
              <a:t>(</a:t>
            </a:r>
            <a:r>
              <a:rPr lang="en-US" b="0" dirty="0" err="1">
                <a:solidFill>
                  <a:srgbClr val="061783"/>
                </a:solidFill>
                <a:effectLst/>
                <a:latin typeface="Menlo" panose="020B0609030804020204" pitchFamily="49" charset="0"/>
              </a:rPr>
              <a:t>p</a:t>
            </a:r>
            <a:r>
              <a:rPr lang="en-US" b="0" dirty="0" err="1">
                <a:solidFill>
                  <a:srgbClr val="000000"/>
                </a:solidFill>
                <a:effectLst/>
                <a:latin typeface="Menlo" panose="020B0609030804020204" pitchFamily="49" charset="0"/>
              </a:rPr>
              <a:t>.text</a:t>
            </a:r>
            <a:r>
              <a:rPr lang="en-US" b="0" dirty="0">
                <a:solidFill>
                  <a:srgbClr val="000000"/>
                </a:solidFill>
                <a:effectLst/>
                <a:latin typeface="Menlo" panose="020B0609030804020204" pitchFamily="49" charset="0"/>
              </a:rPr>
              <a:t>)</a:t>
            </a:r>
          </a:p>
          <a:p>
            <a:r>
              <a:rPr lang="en-US" b="0" dirty="0">
                <a:solidFill>
                  <a:srgbClr val="60B060"/>
                </a:solidFill>
                <a:effectLst/>
                <a:latin typeface="Menlo" panose="020B0609030804020204" pitchFamily="49" charset="0"/>
              </a:rPr>
              <a:t># TODO: Retrieve all paragraphs with the class 'story' and print their text content.</a:t>
            </a:r>
            <a:endParaRPr lang="en-US" b="0" dirty="0">
              <a:solidFill>
                <a:srgbClr val="000000"/>
              </a:solidFill>
              <a:effectLst/>
              <a:latin typeface="Menlo" panose="020B0609030804020204" pitchFamily="49" charset="0"/>
            </a:endParaRPr>
          </a:p>
          <a:p>
            <a:endParaRPr lang="en-US" dirty="0"/>
          </a:p>
        </p:txBody>
      </p:sp>
    </p:spTree>
    <p:extLst>
      <p:ext uri="{BB962C8B-B14F-4D97-AF65-F5344CB8AC3E}">
        <p14:creationId xmlns:p14="http://schemas.microsoft.com/office/powerpoint/2010/main" val="34965651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1452</TotalTime>
  <Words>1747</Words>
  <Application>Microsoft Macintosh PowerPoint</Application>
  <PresentationFormat>Widescreen</PresentationFormat>
  <Paragraphs>149</Paragraphs>
  <Slides>17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Calibri</vt:lpstr>
      <vt:lpstr>Calibri Light</vt:lpstr>
      <vt:lpstr>Google Sans</vt:lpstr>
      <vt:lpstr>grotesk</vt:lpstr>
      <vt:lpstr>jetBrainsMono</vt:lpstr>
      <vt:lpstr>Menlo</vt:lpstr>
      <vt:lpstr>Work Sans</vt:lpstr>
      <vt:lpstr>Office Theme</vt:lpstr>
      <vt:lpstr>PowerPoint Presentation</vt:lpstr>
      <vt:lpstr>PowerPoint Presentation</vt:lpstr>
      <vt:lpstr>What is Web Scraping? </vt:lpstr>
      <vt:lpstr>BeautifulSoup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find_all method</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Maninder Kaur</dc:creator>
  <cp:lastModifiedBy>Maninder Kaur</cp:lastModifiedBy>
  <cp:revision>1</cp:revision>
  <dcterms:created xsi:type="dcterms:W3CDTF">2026-08-07T06:24:14Z</dcterms:created>
  <dcterms:modified xsi:type="dcterms:W3CDTF">2026-08-08T06:36:34Z</dcterms:modified>
</cp:coreProperties>
</file>